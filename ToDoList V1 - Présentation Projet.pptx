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6858000" cy="9144000"/>
  <p:embeddedFontLst>
    <p:embeddedFont>
      <p:font typeface="Plus Jakarta Sans ExtraBold"/>
      <p:bold r:id="rId22"/>
      <p:boldItalic r:id="rId23"/>
    </p:embeddedFont>
    <p:embeddedFont>
      <p:font typeface="Inter"/>
      <p:regular r:id="rId24"/>
      <p:bold r:id="rId25"/>
      <p:italic r:id="rId26"/>
      <p:boldItalic r:id="rId27"/>
    </p:embeddedFont>
    <p:embeddedFont>
      <p:font typeface="Plus Jakarta Sa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4529F80-D2EF-45C8-8D44-3E504491361E}">
  <a:tblStyle styleId="{64529F80-D2EF-45C8-8D44-3E504491361E}"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lusJakartaSansExtraBold-bold.fntdata"/><Relationship Id="rId21" Type="http://schemas.openxmlformats.org/officeDocument/2006/relationships/slide" Target="slides/slide15.xml"/><Relationship Id="rId24" Type="http://schemas.openxmlformats.org/officeDocument/2006/relationships/font" Target="fonts/Inter-regular.fntdata"/><Relationship Id="rId23" Type="http://schemas.openxmlformats.org/officeDocument/2006/relationships/font" Target="fonts/PlusJakartaSansExtra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italic.fntdata"/><Relationship Id="rId25" Type="http://schemas.openxmlformats.org/officeDocument/2006/relationships/font" Target="fonts/Inter-bold.fntdata"/><Relationship Id="rId28" Type="http://schemas.openxmlformats.org/officeDocument/2006/relationships/font" Target="fonts/PlusJakartaSans-regular.fntdata"/><Relationship Id="rId27" Type="http://schemas.openxmlformats.org/officeDocument/2006/relationships/font" Target="fonts/Inter-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lusJakartaSans-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usJakartaSans-boldItalic.fntdata"/><Relationship Id="rId30" Type="http://schemas.openxmlformats.org/officeDocument/2006/relationships/font" Target="fonts/PlusJakartaSans-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6db4e831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6db4e831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9"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1" Type="http://schemas.openxmlformats.org/officeDocument/2006/relationships/image" Target="../media/image17.png"/><Relationship Id="rId10" Type="http://schemas.openxmlformats.org/officeDocument/2006/relationships/image" Target="../media/image13.png"/><Relationship Id="rId13" Type="http://schemas.openxmlformats.org/officeDocument/2006/relationships/image" Target="../media/image20.png"/><Relationship Id="rId12" Type="http://schemas.openxmlformats.org/officeDocument/2006/relationships/image" Target="../media/image14.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1.png"/><Relationship Id="rId9" Type="http://schemas.openxmlformats.org/officeDocument/2006/relationships/image" Target="../media/image15.pn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12.png"/><Relationship Id="rId8" Type="http://schemas.openxmlformats.org/officeDocument/2006/relationships/image" Target="../media/image5.png"/></Relationships>
</file>

<file path=ppt/slides/_rels/slide4.xml.rels><?xml version="1.0" encoding="UTF-8" standalone="yes"?><Relationships xmlns="http://schemas.openxmlformats.org/package/2006/relationships"><Relationship Id="rId11" Type="http://schemas.openxmlformats.org/officeDocument/2006/relationships/image" Target="../media/image25.png"/><Relationship Id="rId10" Type="http://schemas.openxmlformats.org/officeDocument/2006/relationships/image" Target="../media/image23.png"/><Relationship Id="rId13" Type="http://schemas.openxmlformats.org/officeDocument/2006/relationships/image" Target="../media/image28.png"/><Relationship Id="rId12" Type="http://schemas.openxmlformats.org/officeDocument/2006/relationships/image" Target="../media/image24.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8.png"/><Relationship Id="rId9" Type="http://schemas.openxmlformats.org/officeDocument/2006/relationships/image" Target="../media/image22.png"/><Relationship Id="rId15" Type="http://schemas.openxmlformats.org/officeDocument/2006/relationships/image" Target="../media/image36.png"/><Relationship Id="rId14" Type="http://schemas.openxmlformats.org/officeDocument/2006/relationships/image" Target="../media/image26.png"/><Relationship Id="rId17" Type="http://schemas.openxmlformats.org/officeDocument/2006/relationships/image" Target="../media/image35.png"/><Relationship Id="rId16" Type="http://schemas.openxmlformats.org/officeDocument/2006/relationships/image" Target="../media/image27.png"/><Relationship Id="rId5" Type="http://schemas.openxmlformats.org/officeDocument/2006/relationships/image" Target="../media/image16.png"/><Relationship Id="rId6" Type="http://schemas.openxmlformats.org/officeDocument/2006/relationships/image" Target="../media/image5.png"/><Relationship Id="rId18" Type="http://schemas.openxmlformats.org/officeDocument/2006/relationships/image" Target="../media/image29.png"/><Relationship Id="rId7" Type="http://schemas.openxmlformats.org/officeDocument/2006/relationships/image" Target="../media/image19.png"/><Relationship Id="rId8" Type="http://schemas.openxmlformats.org/officeDocument/2006/relationships/image" Target="../media/image21.png"/></Relationships>
</file>

<file path=ppt/slides/_rels/slide5.xml.rels><?xml version="1.0" encoding="UTF-8" standalone="yes"?><Relationships xmlns="http://schemas.openxmlformats.org/package/2006/relationships"><Relationship Id="rId11" Type="http://schemas.openxmlformats.org/officeDocument/2006/relationships/image" Target="../media/image37.png"/><Relationship Id="rId10" Type="http://schemas.openxmlformats.org/officeDocument/2006/relationships/image" Target="../media/image5.png"/><Relationship Id="rId12" Type="http://schemas.openxmlformats.org/officeDocument/2006/relationships/image" Target="../media/image33.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0.png"/><Relationship Id="rId9" Type="http://schemas.openxmlformats.org/officeDocument/2006/relationships/image" Target="../media/image39.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8.png"/><Relationship Id="rId8" Type="http://schemas.openxmlformats.org/officeDocument/2006/relationships/image" Target="../media/image3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8.png"/><Relationship Id="rId5" Type="http://schemas.openxmlformats.org/officeDocument/2006/relationships/image" Target="../media/image5.png"/><Relationship Id="rId6" Type="http://schemas.openxmlformats.org/officeDocument/2006/relationships/image" Target="../media/image4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49.png"/><Relationship Id="rId5" Type="http://schemas.openxmlformats.org/officeDocument/2006/relationships/image" Target="../media/image5.png"/><Relationship Id="rId6" Type="http://schemas.openxmlformats.org/officeDocument/2006/relationships/image" Target="../media/image4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50.png"/><Relationship Id="rId5" Type="http://schemas.openxmlformats.org/officeDocument/2006/relationships/image" Target="../media/image5.png"/><Relationship Id="rId6"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7.png"/><Relationship Id="rId5" Type="http://schemas.openxmlformats.org/officeDocument/2006/relationships/image" Target="../media/image5.png"/><Relationship Id="rId6"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51.png"/><Relationship Id="rId9" Type="http://schemas.openxmlformats.org/officeDocument/2006/relationships/image" Target="../media/image43.png"/><Relationship Id="rId5" Type="http://schemas.openxmlformats.org/officeDocument/2006/relationships/image" Target="../media/image52.png"/><Relationship Id="rId6" Type="http://schemas.openxmlformats.org/officeDocument/2006/relationships/image" Target="../media/image5.png"/><Relationship Id="rId7" Type="http://schemas.openxmlformats.org/officeDocument/2006/relationships/image" Target="../media/image42.png"/><Relationship Id="rId8" Type="http://schemas.openxmlformats.org/officeDocument/2006/relationships/image" Target="../media/image4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63.png"/><Relationship Id="rId5" Type="http://schemas.openxmlformats.org/officeDocument/2006/relationships/image" Target="../media/image5.png"/><Relationship Id="rId6" Type="http://schemas.openxmlformats.org/officeDocument/2006/relationships/image" Target="../media/image4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56.png"/><Relationship Id="rId5" Type="http://schemas.openxmlformats.org/officeDocument/2006/relationships/image" Target="../media/image64.png"/><Relationship Id="rId6" Type="http://schemas.openxmlformats.org/officeDocument/2006/relationships/image" Target="../media/image5.png"/><Relationship Id="rId7" Type="http://schemas.openxmlformats.org/officeDocument/2006/relationships/image" Target="../media/image5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62.png"/><Relationship Id="rId5" Type="http://schemas.openxmlformats.org/officeDocument/2006/relationships/image" Target="../media/image5.png"/><Relationship Id="rId6" Type="http://schemas.openxmlformats.org/officeDocument/2006/relationships/image" Target="../media/image5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55.png"/><Relationship Id="rId9" Type="http://schemas.openxmlformats.org/officeDocument/2006/relationships/image" Target="../media/image57.png"/><Relationship Id="rId5" Type="http://schemas.openxmlformats.org/officeDocument/2006/relationships/image" Target="../media/image54.png"/><Relationship Id="rId6" Type="http://schemas.openxmlformats.org/officeDocument/2006/relationships/image" Target="../media/image5.png"/><Relationship Id="rId7" Type="http://schemas.openxmlformats.org/officeDocument/2006/relationships/image" Target="../media/image60.png"/><Relationship Id="rId8"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Améliorer en tant qu'image" id="84" name="Google Shape;84;p13"/>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pic>
        <p:nvPicPr>
          <p:cNvPr descr="image.png" id="89" name="Google Shape;89;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0" name="Google Shape;90;p14"/>
          <p:cNvPicPr preferRelativeResize="0"/>
          <p:nvPr/>
        </p:nvPicPr>
        <p:blipFill rotWithShape="1">
          <a:blip r:embed="rId4">
            <a:alphaModFix/>
          </a:blip>
          <a:srcRect b="0" l="0" r="0" t="0"/>
          <a:stretch/>
        </p:blipFill>
        <p:spPr>
          <a:xfrm>
            <a:off x="523875" y="2190750"/>
            <a:ext cx="5405437" cy="3124200"/>
          </a:xfrm>
          <a:prstGeom prst="rect">
            <a:avLst/>
          </a:prstGeom>
          <a:noFill/>
          <a:ln>
            <a:noFill/>
          </a:ln>
        </p:spPr>
      </p:pic>
      <p:pic>
        <p:nvPicPr>
          <p:cNvPr descr="image.png" id="91" name="Google Shape;91;p14"/>
          <p:cNvPicPr preferRelativeResize="0"/>
          <p:nvPr/>
        </p:nvPicPr>
        <p:blipFill rotWithShape="1">
          <a:blip r:embed="rId5">
            <a:alphaModFix/>
          </a:blip>
          <a:srcRect b="0" l="0" r="0" t="0"/>
          <a:stretch/>
        </p:blipFill>
        <p:spPr>
          <a:xfrm>
            <a:off x="6262687" y="2190750"/>
            <a:ext cx="5405437" cy="3124200"/>
          </a:xfrm>
          <a:prstGeom prst="rect">
            <a:avLst/>
          </a:prstGeom>
          <a:noFill/>
          <a:ln>
            <a:noFill/>
          </a:ln>
        </p:spPr>
      </p:pic>
      <p:pic>
        <p:nvPicPr>
          <p:cNvPr descr="image.png" id="92" name="Google Shape;92;p14"/>
          <p:cNvPicPr preferRelativeResize="0"/>
          <p:nvPr/>
        </p:nvPicPr>
        <p:blipFill rotWithShape="1">
          <a:blip r:embed="rId6">
            <a:alphaModFix/>
          </a:blip>
          <a:srcRect b="0" l="0" r="0" t="0"/>
          <a:stretch/>
        </p:blipFill>
        <p:spPr>
          <a:xfrm>
            <a:off x="0" y="6353175"/>
            <a:ext cx="12192000" cy="504825"/>
          </a:xfrm>
          <a:prstGeom prst="rect">
            <a:avLst/>
          </a:prstGeom>
          <a:noFill/>
          <a:ln>
            <a:noFill/>
          </a:ln>
        </p:spPr>
      </p:pic>
      <p:pic>
        <p:nvPicPr>
          <p:cNvPr descr="image.png" id="93" name="Google Shape;93;p14"/>
          <p:cNvPicPr preferRelativeResize="0"/>
          <p:nvPr/>
        </p:nvPicPr>
        <p:blipFill rotWithShape="1">
          <a:blip r:embed="rId7">
            <a:alphaModFix/>
          </a:blip>
          <a:srcRect b="0" l="0" r="0" t="0"/>
          <a:stretch/>
        </p:blipFill>
        <p:spPr>
          <a:xfrm>
            <a:off x="523875" y="500062"/>
            <a:ext cx="266700" cy="266700"/>
          </a:xfrm>
          <a:prstGeom prst="rect">
            <a:avLst/>
          </a:prstGeom>
          <a:noFill/>
          <a:ln>
            <a:noFill/>
          </a:ln>
        </p:spPr>
      </p:pic>
      <p:sp>
        <p:nvSpPr>
          <p:cNvPr id="94" name="Google Shape;94;p14"/>
          <p:cNvSpPr txBox="1"/>
          <p:nvPr/>
        </p:nvSpPr>
        <p:spPr>
          <a:xfrm>
            <a:off x="285750" y="6457950"/>
            <a:ext cx="9877425" cy="30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475569"/>
                </a:solidFill>
                <a:latin typeface="Inter"/>
                <a:ea typeface="Inter"/>
                <a:cs typeface="Inter"/>
                <a:sym typeface="Inter"/>
              </a:rPr>
              <a:t>Aujourd'hui, gérer plusieurs projets en parallèle devient vite complexe sans outil adapté. Notre problématique consistait donc à créer une plateforme fluide, accessible en ligne 24/7, permettant de catégoriser les tâches par projet, d'affecter des priorités et de suivre les progrès en temps réel.</a:t>
            </a:r>
            <a:endParaRPr/>
          </a:p>
        </p:txBody>
      </p:sp>
      <p:sp>
        <p:nvSpPr>
          <p:cNvPr id="95" name="Google Shape;95;p14"/>
          <p:cNvSpPr txBox="1"/>
          <p:nvPr/>
        </p:nvSpPr>
        <p:spPr>
          <a:xfrm>
            <a:off x="11610975" y="6538912"/>
            <a:ext cx="2952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Inter"/>
                <a:ea typeface="Inter"/>
                <a:cs typeface="Inter"/>
                <a:sym typeface="Inter"/>
              </a:rPr>
              <a:t>2 / 15</a:t>
            </a:r>
            <a:endParaRPr/>
          </a:p>
        </p:txBody>
      </p:sp>
      <p:sp>
        <p:nvSpPr>
          <p:cNvPr id="96" name="Google Shape;96;p14"/>
          <p:cNvSpPr txBox="1"/>
          <p:nvPr/>
        </p:nvSpPr>
        <p:spPr>
          <a:xfrm>
            <a:off x="819150" y="2952750"/>
            <a:ext cx="5055631"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284C7"/>
                </a:solidFill>
                <a:latin typeface="Plus Jakarta Sans"/>
                <a:ea typeface="Plus Jakarta Sans"/>
                <a:cs typeface="Plus Jakarta Sans"/>
                <a:sym typeface="Plus Jakarta Sans"/>
              </a:rPr>
              <a:t>Le Contexte du Projet</a:t>
            </a:r>
            <a:endParaRPr/>
          </a:p>
        </p:txBody>
      </p:sp>
      <p:sp>
        <p:nvSpPr>
          <p:cNvPr id="97" name="Google Shape;97;p14"/>
          <p:cNvSpPr txBox="1"/>
          <p:nvPr/>
        </p:nvSpPr>
        <p:spPr>
          <a:xfrm>
            <a:off x="819150" y="3333750"/>
            <a:ext cx="4814887" cy="728662"/>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0" lang="en-US" sz="1275" u="none" cap="none" strike="noStrike">
                <a:solidFill>
                  <a:srgbClr val="334155"/>
                </a:solidFill>
                <a:latin typeface="Inter"/>
                <a:ea typeface="Inter"/>
                <a:cs typeface="Inter"/>
                <a:sym typeface="Inter"/>
              </a:rPr>
              <a:t>Dans un contexte académique et professionnel exigeant, la démultiplication des projets et des livrables rend l'organisation individuelle cruciale.</a:t>
            </a:r>
            <a:endParaRPr/>
          </a:p>
        </p:txBody>
      </p:sp>
      <p:sp>
        <p:nvSpPr>
          <p:cNvPr id="98" name="Google Shape;98;p14"/>
          <p:cNvSpPr txBox="1"/>
          <p:nvPr/>
        </p:nvSpPr>
        <p:spPr>
          <a:xfrm>
            <a:off x="819150" y="4176712"/>
            <a:ext cx="4814887" cy="728662"/>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0" lang="en-US" sz="1275" u="none" cap="none" strike="noStrike">
                <a:solidFill>
                  <a:srgbClr val="334155"/>
                </a:solidFill>
                <a:latin typeface="Inter"/>
                <a:ea typeface="Inter"/>
                <a:cs typeface="Inter"/>
                <a:sym typeface="Inter"/>
              </a:rPr>
              <a:t>Sans centralisation, les étudiants et professionnels font face à la perte de visibilité sur les échéances et à l'éparpillement des informations relatives aux tâches quotidiennes.</a:t>
            </a:r>
            <a:endParaRPr/>
          </a:p>
        </p:txBody>
      </p:sp>
      <p:sp>
        <p:nvSpPr>
          <p:cNvPr id="99" name="Google Shape;99;p14"/>
          <p:cNvSpPr txBox="1"/>
          <p:nvPr/>
        </p:nvSpPr>
        <p:spPr>
          <a:xfrm>
            <a:off x="6557962" y="2952750"/>
            <a:ext cx="5055631"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284C7"/>
                </a:solidFill>
                <a:latin typeface="Plus Jakarta Sans"/>
                <a:ea typeface="Plus Jakarta Sans"/>
                <a:cs typeface="Plus Jakarta Sans"/>
                <a:sym typeface="Plus Jakarta Sans"/>
              </a:rPr>
              <a:t>La Problématique</a:t>
            </a:r>
            <a:endParaRPr/>
          </a:p>
        </p:txBody>
      </p:sp>
      <p:sp>
        <p:nvSpPr>
          <p:cNvPr id="100" name="Google Shape;100;p14"/>
          <p:cNvSpPr txBox="1"/>
          <p:nvPr/>
        </p:nvSpPr>
        <p:spPr>
          <a:xfrm>
            <a:off x="6557962" y="3333750"/>
            <a:ext cx="4814887" cy="728662"/>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 Comment concevoir une application web simple, intuitive et accessible permettant à un utilisateur d'organiser efficacement ses projets et ses tâches ? »</a:t>
            </a:r>
            <a:endParaRPr/>
          </a:p>
        </p:txBody>
      </p:sp>
      <p:sp>
        <p:nvSpPr>
          <p:cNvPr id="101" name="Google Shape;101;p14"/>
          <p:cNvSpPr txBox="1"/>
          <p:nvPr/>
        </p:nvSpPr>
        <p:spPr>
          <a:xfrm>
            <a:off x="6557962" y="4176712"/>
            <a:ext cx="4814887" cy="728662"/>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0" lang="en-US" sz="1275" u="none" cap="none" strike="noStrike">
                <a:solidFill>
                  <a:srgbClr val="334155"/>
                </a:solidFill>
                <a:latin typeface="Inter"/>
                <a:ea typeface="Inter"/>
                <a:cs typeface="Inter"/>
                <a:sym typeface="Inter"/>
              </a:rPr>
              <a:t>L'objectif clé est d'offrir une expérience utilisateur fluide sans surcharge visuelle, tout en assurant une isolation stricte et sécurisée des données utilisateur.</a:t>
            </a:r>
            <a:endParaRPr/>
          </a:p>
        </p:txBody>
      </p:sp>
      <p:pic>
        <p:nvPicPr>
          <p:cNvPr descr="image.png" id="102" name="Google Shape;102;p14"/>
          <p:cNvPicPr preferRelativeResize="0"/>
          <p:nvPr/>
        </p:nvPicPr>
        <p:blipFill rotWithShape="1">
          <a:blip r:embed="rId8">
            <a:alphaModFix/>
          </a:blip>
          <a:srcRect b="0" l="0" r="0" t="0"/>
          <a:stretch/>
        </p:blipFill>
        <p:spPr>
          <a:xfrm>
            <a:off x="819150" y="2514600"/>
            <a:ext cx="342900" cy="304800"/>
          </a:xfrm>
          <a:prstGeom prst="rect">
            <a:avLst/>
          </a:prstGeom>
          <a:noFill/>
          <a:ln>
            <a:noFill/>
          </a:ln>
        </p:spPr>
      </p:pic>
      <p:pic>
        <p:nvPicPr>
          <p:cNvPr descr="image.png" id="103" name="Google Shape;103;p14"/>
          <p:cNvPicPr preferRelativeResize="0"/>
          <p:nvPr/>
        </p:nvPicPr>
        <p:blipFill rotWithShape="1">
          <a:blip r:embed="rId9">
            <a:alphaModFix/>
          </a:blip>
          <a:srcRect b="0" l="0" r="0" t="0"/>
          <a:stretch/>
        </p:blipFill>
        <p:spPr>
          <a:xfrm>
            <a:off x="6557962" y="2514600"/>
            <a:ext cx="304800" cy="304800"/>
          </a:xfrm>
          <a:prstGeom prst="rect">
            <a:avLst/>
          </a:prstGeom>
          <a:noFill/>
          <a:ln>
            <a:noFill/>
          </a:ln>
        </p:spPr>
      </p:pic>
      <p:sp>
        <p:nvSpPr>
          <p:cNvPr id="104" name="Google Shape;104;p14"/>
          <p:cNvSpPr txBox="1"/>
          <p:nvPr/>
        </p:nvSpPr>
        <p:spPr>
          <a:xfrm>
            <a:off x="904875" y="428625"/>
            <a:ext cx="11287125"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550" u="none" cap="none" strike="noStrike">
                <a:solidFill>
                  <a:srgbClr val="0F172A"/>
                </a:solidFill>
                <a:latin typeface="Plus Jakarta Sans ExtraBold"/>
                <a:ea typeface="Plus Jakarta Sans ExtraBold"/>
                <a:cs typeface="Plus Jakarta Sans ExtraBold"/>
                <a:sym typeface="Plus Jakarta Sans ExtraBold"/>
              </a:rPr>
              <a:t>Contexte &amp; Problématique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pic>
        <p:nvPicPr>
          <p:cNvPr descr="image.png" id="109" name="Google Shape;109;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0" name="Google Shape;110;p15"/>
          <p:cNvPicPr preferRelativeResize="0"/>
          <p:nvPr/>
        </p:nvPicPr>
        <p:blipFill rotWithShape="1">
          <a:blip r:embed="rId4">
            <a:alphaModFix/>
          </a:blip>
          <a:srcRect b="0" l="0" r="0" t="0"/>
          <a:stretch/>
        </p:blipFill>
        <p:spPr>
          <a:xfrm>
            <a:off x="523875" y="2345531"/>
            <a:ext cx="2607468" cy="2814637"/>
          </a:xfrm>
          <a:prstGeom prst="rect">
            <a:avLst/>
          </a:prstGeom>
          <a:noFill/>
          <a:ln>
            <a:noFill/>
          </a:ln>
        </p:spPr>
      </p:pic>
      <p:pic>
        <p:nvPicPr>
          <p:cNvPr descr="image.png" id="111" name="Google Shape;111;p15"/>
          <p:cNvPicPr preferRelativeResize="0"/>
          <p:nvPr/>
        </p:nvPicPr>
        <p:blipFill rotWithShape="1">
          <a:blip r:embed="rId5">
            <a:alphaModFix/>
          </a:blip>
          <a:srcRect b="0" l="0" r="0" t="0"/>
          <a:stretch/>
        </p:blipFill>
        <p:spPr>
          <a:xfrm>
            <a:off x="3369468" y="2345531"/>
            <a:ext cx="2607468" cy="2814637"/>
          </a:xfrm>
          <a:prstGeom prst="rect">
            <a:avLst/>
          </a:prstGeom>
          <a:noFill/>
          <a:ln>
            <a:noFill/>
          </a:ln>
        </p:spPr>
      </p:pic>
      <p:pic>
        <p:nvPicPr>
          <p:cNvPr descr="image.png" id="112" name="Google Shape;112;p15"/>
          <p:cNvPicPr preferRelativeResize="0"/>
          <p:nvPr/>
        </p:nvPicPr>
        <p:blipFill rotWithShape="1">
          <a:blip r:embed="rId6">
            <a:alphaModFix/>
          </a:blip>
          <a:srcRect b="0" l="0" r="0" t="0"/>
          <a:stretch/>
        </p:blipFill>
        <p:spPr>
          <a:xfrm>
            <a:off x="6215062" y="2345531"/>
            <a:ext cx="2607468" cy="2814637"/>
          </a:xfrm>
          <a:prstGeom prst="rect">
            <a:avLst/>
          </a:prstGeom>
          <a:noFill/>
          <a:ln>
            <a:noFill/>
          </a:ln>
        </p:spPr>
      </p:pic>
      <p:pic>
        <p:nvPicPr>
          <p:cNvPr descr="image.png" id="113" name="Google Shape;113;p15"/>
          <p:cNvPicPr preferRelativeResize="0"/>
          <p:nvPr/>
        </p:nvPicPr>
        <p:blipFill rotWithShape="1">
          <a:blip r:embed="rId7">
            <a:alphaModFix/>
          </a:blip>
          <a:srcRect b="0" l="0" r="0" t="0"/>
          <a:stretch/>
        </p:blipFill>
        <p:spPr>
          <a:xfrm>
            <a:off x="9060656" y="2345531"/>
            <a:ext cx="2607468" cy="2814637"/>
          </a:xfrm>
          <a:prstGeom prst="rect">
            <a:avLst/>
          </a:prstGeom>
          <a:noFill/>
          <a:ln>
            <a:noFill/>
          </a:ln>
        </p:spPr>
      </p:pic>
      <p:pic>
        <p:nvPicPr>
          <p:cNvPr descr="image.png" id="114" name="Google Shape;114;p15"/>
          <p:cNvPicPr preferRelativeResize="0"/>
          <p:nvPr/>
        </p:nvPicPr>
        <p:blipFill rotWithShape="1">
          <a:blip r:embed="rId8">
            <a:alphaModFix/>
          </a:blip>
          <a:srcRect b="0" l="0" r="0" t="0"/>
          <a:stretch/>
        </p:blipFill>
        <p:spPr>
          <a:xfrm>
            <a:off x="0" y="6353175"/>
            <a:ext cx="12192000" cy="504825"/>
          </a:xfrm>
          <a:prstGeom prst="rect">
            <a:avLst/>
          </a:prstGeom>
          <a:noFill/>
          <a:ln>
            <a:noFill/>
          </a:ln>
        </p:spPr>
      </p:pic>
      <p:pic>
        <p:nvPicPr>
          <p:cNvPr descr="image.png" id="115" name="Google Shape;115;p15"/>
          <p:cNvPicPr preferRelativeResize="0"/>
          <p:nvPr/>
        </p:nvPicPr>
        <p:blipFill rotWithShape="1">
          <a:blip r:embed="rId9">
            <a:alphaModFix/>
          </a:blip>
          <a:srcRect b="0" l="0" r="0" t="0"/>
          <a:stretch/>
        </p:blipFill>
        <p:spPr>
          <a:xfrm>
            <a:off x="523875" y="500062"/>
            <a:ext cx="266700" cy="266700"/>
          </a:xfrm>
          <a:prstGeom prst="rect">
            <a:avLst/>
          </a:prstGeom>
          <a:noFill/>
          <a:ln>
            <a:noFill/>
          </a:ln>
        </p:spPr>
      </p:pic>
      <p:sp>
        <p:nvSpPr>
          <p:cNvPr id="116" name="Google Shape;116;p15"/>
          <p:cNvSpPr txBox="1"/>
          <p:nvPr/>
        </p:nvSpPr>
        <p:spPr>
          <a:xfrm>
            <a:off x="285750" y="6457950"/>
            <a:ext cx="9877425" cy="30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475569"/>
                </a:solidFill>
                <a:latin typeface="Inter"/>
                <a:ea typeface="Inter"/>
                <a:cs typeface="Inter"/>
                <a:sym typeface="Inter"/>
              </a:rPr>
              <a:t>Pour répondre à ce besoin, nous avons fixé quatre objectifs majeurs : construire une architecture backend solide avec Django, sécuriser les accès utilisateurs, concevoir un dashboard synthétique et enfin assurer un déploiement cloud professionnel sur Railway.</a:t>
            </a:r>
            <a:endParaRPr/>
          </a:p>
        </p:txBody>
      </p:sp>
      <p:sp>
        <p:nvSpPr>
          <p:cNvPr id="117" name="Google Shape;117;p15"/>
          <p:cNvSpPr txBox="1"/>
          <p:nvPr/>
        </p:nvSpPr>
        <p:spPr>
          <a:xfrm>
            <a:off x="11610975" y="6538912"/>
            <a:ext cx="2952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Inter"/>
                <a:ea typeface="Inter"/>
                <a:cs typeface="Inter"/>
                <a:sym typeface="Inter"/>
              </a:rPr>
              <a:t>3 / 15</a:t>
            </a:r>
            <a:endParaRPr/>
          </a:p>
        </p:txBody>
      </p:sp>
      <p:sp>
        <p:nvSpPr>
          <p:cNvPr id="118" name="Google Shape;118;p15"/>
          <p:cNvSpPr txBox="1"/>
          <p:nvPr/>
        </p:nvSpPr>
        <p:spPr>
          <a:xfrm>
            <a:off x="771525" y="3155156"/>
            <a:ext cx="2217777"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Socle Technique Robust</a:t>
            </a:r>
            <a:endParaRPr/>
          </a:p>
        </p:txBody>
      </p:sp>
      <p:sp>
        <p:nvSpPr>
          <p:cNvPr id="119" name="Google Shape;119;p15"/>
          <p:cNvSpPr txBox="1"/>
          <p:nvPr/>
        </p:nvSpPr>
        <p:spPr>
          <a:xfrm>
            <a:off x="771525" y="3726656"/>
            <a:ext cx="2112168" cy="107156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475569"/>
                </a:solidFill>
                <a:latin typeface="Inter"/>
                <a:ea typeface="Inter"/>
                <a:cs typeface="Inter"/>
                <a:sym typeface="Inter"/>
              </a:rPr>
              <a:t>Développer une application web structurée selon le motif MTV de Django 5.2 et reliée à une base de données relationnelle.</a:t>
            </a:r>
            <a:endParaRPr/>
          </a:p>
        </p:txBody>
      </p:sp>
      <p:sp>
        <p:nvSpPr>
          <p:cNvPr id="120" name="Google Shape;120;p15"/>
          <p:cNvSpPr txBox="1"/>
          <p:nvPr/>
        </p:nvSpPr>
        <p:spPr>
          <a:xfrm>
            <a:off x="3617118" y="3155156"/>
            <a:ext cx="2217777"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Espace Sécurisé</a:t>
            </a:r>
            <a:endParaRPr/>
          </a:p>
        </p:txBody>
      </p:sp>
      <p:sp>
        <p:nvSpPr>
          <p:cNvPr id="121" name="Google Shape;121;p15"/>
          <p:cNvSpPr txBox="1"/>
          <p:nvPr/>
        </p:nvSpPr>
        <p:spPr>
          <a:xfrm>
            <a:off x="3617118" y="3488531"/>
            <a:ext cx="2112168" cy="107156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475569"/>
                </a:solidFill>
                <a:latin typeface="Inter"/>
                <a:ea typeface="Inter"/>
                <a:cs typeface="Inter"/>
                <a:sym typeface="Inter"/>
              </a:rPr>
              <a:t>Mettre en place une authentification complète (inscription, connexion, déconnexion) protégeant les données de chaque utilisateur.</a:t>
            </a:r>
            <a:endParaRPr/>
          </a:p>
        </p:txBody>
      </p:sp>
      <p:sp>
        <p:nvSpPr>
          <p:cNvPr id="122" name="Google Shape;122;p15"/>
          <p:cNvSpPr txBox="1"/>
          <p:nvPr/>
        </p:nvSpPr>
        <p:spPr>
          <a:xfrm>
            <a:off x="6462712" y="3155156"/>
            <a:ext cx="2217777"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Suivi &amp; Dashboard</a:t>
            </a:r>
            <a:endParaRPr/>
          </a:p>
        </p:txBody>
      </p:sp>
      <p:sp>
        <p:nvSpPr>
          <p:cNvPr id="123" name="Google Shape;123;p15"/>
          <p:cNvSpPr txBox="1"/>
          <p:nvPr/>
        </p:nvSpPr>
        <p:spPr>
          <a:xfrm>
            <a:off x="6462712" y="3488531"/>
            <a:ext cx="2112168" cy="107156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475569"/>
                </a:solidFill>
                <a:latin typeface="Inter"/>
                <a:ea typeface="Inter"/>
                <a:cs typeface="Inter"/>
                <a:sym typeface="Inter"/>
              </a:rPr>
              <a:t>Fournir un tableau de bord visuel mesurant l'avancement global : tâches terminées, en retard et progression par projet.</a:t>
            </a:r>
            <a:endParaRPr/>
          </a:p>
        </p:txBody>
      </p:sp>
      <p:sp>
        <p:nvSpPr>
          <p:cNvPr id="124" name="Google Shape;124;p15"/>
          <p:cNvSpPr txBox="1"/>
          <p:nvPr/>
        </p:nvSpPr>
        <p:spPr>
          <a:xfrm>
            <a:off x="9308306" y="3155156"/>
            <a:ext cx="2217777"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Production Cloud</a:t>
            </a:r>
            <a:endParaRPr/>
          </a:p>
        </p:txBody>
      </p:sp>
      <p:sp>
        <p:nvSpPr>
          <p:cNvPr id="125" name="Google Shape;125;p15"/>
          <p:cNvSpPr txBox="1"/>
          <p:nvPr/>
        </p:nvSpPr>
        <p:spPr>
          <a:xfrm>
            <a:off x="9308306" y="3488531"/>
            <a:ext cx="2112168" cy="107156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475569"/>
                </a:solidFill>
                <a:latin typeface="Inter"/>
                <a:ea typeface="Inter"/>
                <a:cs typeface="Inter"/>
                <a:sym typeface="Inter"/>
              </a:rPr>
              <a:t>Déployer l'application sur un environnement SaaS/PaaS (Railway avec PostgreSQL) pour un accès public fonctionnel.</a:t>
            </a:r>
            <a:endParaRPr/>
          </a:p>
        </p:txBody>
      </p:sp>
      <p:pic>
        <p:nvPicPr>
          <p:cNvPr descr="image.png" id="126" name="Google Shape;126;p15"/>
          <p:cNvPicPr preferRelativeResize="0"/>
          <p:nvPr/>
        </p:nvPicPr>
        <p:blipFill rotWithShape="1">
          <a:blip r:embed="rId10">
            <a:alphaModFix/>
          </a:blip>
          <a:srcRect b="0" l="0" r="0" t="0"/>
          <a:stretch/>
        </p:blipFill>
        <p:spPr>
          <a:xfrm>
            <a:off x="771525" y="2631281"/>
            <a:ext cx="304800" cy="342900"/>
          </a:xfrm>
          <a:prstGeom prst="rect">
            <a:avLst/>
          </a:prstGeom>
          <a:noFill/>
          <a:ln>
            <a:noFill/>
          </a:ln>
        </p:spPr>
      </p:pic>
      <p:pic>
        <p:nvPicPr>
          <p:cNvPr descr="image.png" id="127" name="Google Shape;127;p15"/>
          <p:cNvPicPr preferRelativeResize="0"/>
          <p:nvPr/>
        </p:nvPicPr>
        <p:blipFill rotWithShape="1">
          <a:blip r:embed="rId11">
            <a:alphaModFix/>
          </a:blip>
          <a:srcRect b="0" l="0" r="0" t="0"/>
          <a:stretch/>
        </p:blipFill>
        <p:spPr>
          <a:xfrm>
            <a:off x="3617118" y="2631281"/>
            <a:ext cx="428625" cy="342900"/>
          </a:xfrm>
          <a:prstGeom prst="rect">
            <a:avLst/>
          </a:prstGeom>
          <a:noFill/>
          <a:ln>
            <a:noFill/>
          </a:ln>
        </p:spPr>
      </p:pic>
      <p:pic>
        <p:nvPicPr>
          <p:cNvPr descr="image.png" id="128" name="Google Shape;128;p15"/>
          <p:cNvPicPr preferRelativeResize="0"/>
          <p:nvPr/>
        </p:nvPicPr>
        <p:blipFill rotWithShape="1">
          <a:blip r:embed="rId12">
            <a:alphaModFix/>
          </a:blip>
          <a:srcRect b="0" l="0" r="0" t="0"/>
          <a:stretch/>
        </p:blipFill>
        <p:spPr>
          <a:xfrm>
            <a:off x="6462712" y="2631281"/>
            <a:ext cx="390525" cy="342900"/>
          </a:xfrm>
          <a:prstGeom prst="rect">
            <a:avLst/>
          </a:prstGeom>
          <a:noFill/>
          <a:ln>
            <a:noFill/>
          </a:ln>
        </p:spPr>
      </p:pic>
      <p:pic>
        <p:nvPicPr>
          <p:cNvPr descr="image.png" id="129" name="Google Shape;129;p15"/>
          <p:cNvPicPr preferRelativeResize="0"/>
          <p:nvPr/>
        </p:nvPicPr>
        <p:blipFill rotWithShape="1">
          <a:blip r:embed="rId13">
            <a:alphaModFix/>
          </a:blip>
          <a:srcRect b="0" l="0" r="0" t="0"/>
          <a:stretch/>
        </p:blipFill>
        <p:spPr>
          <a:xfrm>
            <a:off x="9308306" y="2631281"/>
            <a:ext cx="428625" cy="342900"/>
          </a:xfrm>
          <a:prstGeom prst="rect">
            <a:avLst/>
          </a:prstGeom>
          <a:noFill/>
          <a:ln>
            <a:noFill/>
          </a:ln>
        </p:spPr>
      </p:pic>
      <p:sp>
        <p:nvSpPr>
          <p:cNvPr id="130" name="Google Shape;130;p15"/>
          <p:cNvSpPr txBox="1"/>
          <p:nvPr/>
        </p:nvSpPr>
        <p:spPr>
          <a:xfrm>
            <a:off x="904875" y="428625"/>
            <a:ext cx="11287125"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550" u="none" cap="none" strike="noStrike">
                <a:solidFill>
                  <a:srgbClr val="0F172A"/>
                </a:solidFill>
                <a:latin typeface="Plus Jakarta Sans ExtraBold"/>
                <a:ea typeface="Plus Jakarta Sans ExtraBold"/>
                <a:cs typeface="Plus Jakarta Sans ExtraBold"/>
                <a:sym typeface="Plus Jakarta Sans ExtraBold"/>
              </a:rPr>
              <a:t>Objectifs du Projet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pic>
        <p:nvPicPr>
          <p:cNvPr descr="image.png" id="135" name="Google Shape;135;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6" name="Google Shape;136;p16"/>
          <p:cNvPicPr preferRelativeResize="0"/>
          <p:nvPr/>
        </p:nvPicPr>
        <p:blipFill rotWithShape="1">
          <a:blip r:embed="rId4">
            <a:alphaModFix/>
          </a:blip>
          <a:srcRect b="0" l="0" r="0" t="0"/>
          <a:stretch/>
        </p:blipFill>
        <p:spPr>
          <a:xfrm>
            <a:off x="523875" y="2078831"/>
            <a:ext cx="5405437" cy="3348037"/>
          </a:xfrm>
          <a:prstGeom prst="rect">
            <a:avLst/>
          </a:prstGeom>
          <a:noFill/>
          <a:ln>
            <a:noFill/>
          </a:ln>
        </p:spPr>
      </p:pic>
      <p:pic>
        <p:nvPicPr>
          <p:cNvPr descr="image.png" id="137" name="Google Shape;137;p16"/>
          <p:cNvPicPr preferRelativeResize="0"/>
          <p:nvPr/>
        </p:nvPicPr>
        <p:blipFill rotWithShape="1">
          <a:blip r:embed="rId5">
            <a:alphaModFix/>
          </a:blip>
          <a:srcRect b="0" l="0" r="0" t="0"/>
          <a:stretch/>
        </p:blipFill>
        <p:spPr>
          <a:xfrm>
            <a:off x="6262687" y="2078831"/>
            <a:ext cx="5405437" cy="3348037"/>
          </a:xfrm>
          <a:prstGeom prst="rect">
            <a:avLst/>
          </a:prstGeom>
          <a:noFill/>
          <a:ln>
            <a:noFill/>
          </a:ln>
        </p:spPr>
      </p:pic>
      <p:pic>
        <p:nvPicPr>
          <p:cNvPr descr="image.png" id="138" name="Google Shape;138;p16"/>
          <p:cNvPicPr preferRelativeResize="0"/>
          <p:nvPr/>
        </p:nvPicPr>
        <p:blipFill rotWithShape="1">
          <a:blip r:embed="rId6">
            <a:alphaModFix/>
          </a:blip>
          <a:srcRect b="0" l="0" r="0" t="0"/>
          <a:stretch/>
        </p:blipFill>
        <p:spPr>
          <a:xfrm>
            <a:off x="0" y="6353175"/>
            <a:ext cx="12192000" cy="504825"/>
          </a:xfrm>
          <a:prstGeom prst="rect">
            <a:avLst/>
          </a:prstGeom>
          <a:noFill/>
          <a:ln>
            <a:noFill/>
          </a:ln>
        </p:spPr>
      </p:pic>
      <p:pic>
        <p:nvPicPr>
          <p:cNvPr descr="image.png" id="139" name="Google Shape;139;p16"/>
          <p:cNvPicPr preferRelativeResize="0"/>
          <p:nvPr/>
        </p:nvPicPr>
        <p:blipFill rotWithShape="1">
          <a:blip r:embed="rId7">
            <a:alphaModFix/>
          </a:blip>
          <a:srcRect b="0" l="0" r="0" t="0"/>
          <a:stretch/>
        </p:blipFill>
        <p:spPr>
          <a:xfrm>
            <a:off x="523875" y="500062"/>
            <a:ext cx="333375" cy="266700"/>
          </a:xfrm>
          <a:prstGeom prst="rect">
            <a:avLst/>
          </a:prstGeom>
          <a:noFill/>
          <a:ln>
            <a:noFill/>
          </a:ln>
        </p:spPr>
      </p:pic>
      <p:sp>
        <p:nvSpPr>
          <p:cNvPr id="140" name="Google Shape;140;p16"/>
          <p:cNvSpPr txBox="1"/>
          <p:nvPr/>
        </p:nvSpPr>
        <p:spPr>
          <a:xfrm>
            <a:off x="285750" y="6457950"/>
            <a:ext cx="9877425" cy="30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475569"/>
                </a:solidFill>
                <a:latin typeface="Inter"/>
                <a:ea typeface="Inter"/>
                <a:cs typeface="Inter"/>
                <a:sym typeface="Inter"/>
              </a:rPr>
              <a:t>Sur le plan technologique, nous avons retenu Python et Django 5.2 pour leur fiabilité. Côté frontend, Bootstrap 5 assure une interface responsive. Pour la gestion de données, nous sommes passés de SQLite en développement local à PostgreSQL en production sur la plateforme Railway.</a:t>
            </a:r>
            <a:endParaRPr/>
          </a:p>
        </p:txBody>
      </p:sp>
      <p:sp>
        <p:nvSpPr>
          <p:cNvPr id="141" name="Google Shape;141;p16"/>
          <p:cNvSpPr txBox="1"/>
          <p:nvPr/>
        </p:nvSpPr>
        <p:spPr>
          <a:xfrm>
            <a:off x="11610975" y="6538912"/>
            <a:ext cx="2952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Inter"/>
                <a:ea typeface="Inter"/>
                <a:cs typeface="Inter"/>
                <a:sym typeface="Inter"/>
              </a:rPr>
              <a:t>4 / 15</a:t>
            </a:r>
            <a:endParaRPr/>
          </a:p>
        </p:txBody>
      </p:sp>
      <p:sp>
        <p:nvSpPr>
          <p:cNvPr id="142" name="Google Shape;142;p16"/>
          <p:cNvSpPr txBox="1"/>
          <p:nvPr/>
        </p:nvSpPr>
        <p:spPr>
          <a:xfrm>
            <a:off x="819150" y="2374106"/>
            <a:ext cx="5055631" cy="266700"/>
          </a:xfrm>
          <a:prstGeom prst="rect">
            <a:avLst/>
          </a:prstGeom>
          <a:noFill/>
          <a:ln>
            <a:noFill/>
          </a:ln>
        </p:spPr>
        <p:txBody>
          <a:bodyPr anchorCtr="0" anchor="t" bIns="0" lIns="209550" spcFirstLastPara="1" rIns="0" wrap="square" tIns="0">
            <a:spAutoFit/>
          </a:bodyPr>
          <a:lstStyle/>
          <a:p>
            <a:pPr indent="0" lvl="0" marL="0" marR="0" rtl="0" algn="l">
              <a:spcBef>
                <a:spcPts val="0"/>
              </a:spcBef>
              <a:spcAft>
                <a:spcPts val="0"/>
              </a:spcAft>
              <a:buNone/>
            </a:pPr>
            <a:r>
              <a:rPr b="1" i="0" lang="en-US" sz="1650" u="none" cap="none" strike="noStrike">
                <a:solidFill>
                  <a:srgbClr val="0284C7"/>
                </a:solidFill>
                <a:latin typeface="Plus Jakarta Sans"/>
                <a:ea typeface="Plus Jakarta Sans"/>
                <a:cs typeface="Plus Jakarta Sans"/>
                <a:sym typeface="Plus Jakarta Sans"/>
              </a:rPr>
              <a:t>Backend &amp; Base de données</a:t>
            </a:r>
            <a:endParaRPr/>
          </a:p>
        </p:txBody>
      </p:sp>
      <p:sp>
        <p:nvSpPr>
          <p:cNvPr id="143" name="Google Shape;143;p16"/>
          <p:cNvSpPr txBox="1"/>
          <p:nvPr/>
        </p:nvSpPr>
        <p:spPr>
          <a:xfrm>
            <a:off x="6557962" y="2374106"/>
            <a:ext cx="5055631" cy="266700"/>
          </a:xfrm>
          <a:prstGeom prst="rect">
            <a:avLst/>
          </a:prstGeom>
          <a:noFill/>
          <a:ln>
            <a:noFill/>
          </a:ln>
        </p:spPr>
        <p:txBody>
          <a:bodyPr anchorCtr="0" anchor="t" bIns="0" lIns="266700" spcFirstLastPara="1" rIns="0" wrap="square" tIns="0">
            <a:spAutoFit/>
          </a:bodyPr>
          <a:lstStyle/>
          <a:p>
            <a:pPr indent="0" lvl="0" marL="0" marR="0" rtl="0" algn="l">
              <a:spcBef>
                <a:spcPts val="0"/>
              </a:spcBef>
              <a:spcAft>
                <a:spcPts val="0"/>
              </a:spcAft>
              <a:buNone/>
            </a:pPr>
            <a:r>
              <a:rPr b="1" i="0" lang="en-US" sz="1650" u="none" cap="none" strike="noStrike">
                <a:solidFill>
                  <a:srgbClr val="0284C7"/>
                </a:solidFill>
                <a:latin typeface="Plus Jakarta Sans"/>
                <a:ea typeface="Plus Jakarta Sans"/>
                <a:cs typeface="Plus Jakarta Sans"/>
                <a:sym typeface="Plus Jakarta Sans"/>
              </a:rPr>
              <a:t>Frontend &amp; DevOps</a:t>
            </a:r>
            <a:endParaRPr/>
          </a:p>
        </p:txBody>
      </p:sp>
      <p:pic>
        <p:nvPicPr>
          <p:cNvPr descr="image.png" id="144" name="Google Shape;144;p16"/>
          <p:cNvPicPr preferRelativeResize="0"/>
          <p:nvPr/>
        </p:nvPicPr>
        <p:blipFill rotWithShape="1">
          <a:blip r:embed="rId8">
            <a:alphaModFix/>
          </a:blip>
          <a:srcRect b="0" l="0" r="0" t="0"/>
          <a:stretch/>
        </p:blipFill>
        <p:spPr>
          <a:xfrm>
            <a:off x="819150" y="2412206"/>
            <a:ext cx="209550" cy="209550"/>
          </a:xfrm>
          <a:prstGeom prst="rect">
            <a:avLst/>
          </a:prstGeom>
          <a:noFill/>
          <a:ln>
            <a:noFill/>
          </a:ln>
        </p:spPr>
      </p:pic>
      <p:pic>
        <p:nvPicPr>
          <p:cNvPr descr="image.png" id="145" name="Google Shape;145;p16"/>
          <p:cNvPicPr preferRelativeResize="0"/>
          <p:nvPr/>
        </p:nvPicPr>
        <p:blipFill rotWithShape="1">
          <a:blip r:embed="rId9">
            <a:alphaModFix/>
          </a:blip>
          <a:srcRect b="0" l="0" r="0" t="0"/>
          <a:stretch/>
        </p:blipFill>
        <p:spPr>
          <a:xfrm>
            <a:off x="819150" y="2755106"/>
            <a:ext cx="723900" cy="261937"/>
          </a:xfrm>
          <a:prstGeom prst="rect">
            <a:avLst/>
          </a:prstGeom>
          <a:noFill/>
          <a:ln>
            <a:noFill/>
          </a:ln>
        </p:spPr>
      </p:pic>
      <p:pic>
        <p:nvPicPr>
          <p:cNvPr descr="image.png" id="146" name="Google Shape;146;p16"/>
          <p:cNvPicPr preferRelativeResize="0"/>
          <p:nvPr/>
        </p:nvPicPr>
        <p:blipFill rotWithShape="1">
          <a:blip r:embed="rId10">
            <a:alphaModFix/>
          </a:blip>
          <a:srcRect b="0" l="0" r="0" t="0"/>
          <a:stretch/>
        </p:blipFill>
        <p:spPr>
          <a:xfrm>
            <a:off x="1600200" y="2755106"/>
            <a:ext cx="819150" cy="261937"/>
          </a:xfrm>
          <a:prstGeom prst="rect">
            <a:avLst/>
          </a:prstGeom>
          <a:noFill/>
          <a:ln>
            <a:noFill/>
          </a:ln>
        </p:spPr>
      </p:pic>
      <p:pic>
        <p:nvPicPr>
          <p:cNvPr descr="image.png" id="147" name="Google Shape;147;p16"/>
          <p:cNvPicPr preferRelativeResize="0"/>
          <p:nvPr/>
        </p:nvPicPr>
        <p:blipFill rotWithShape="1">
          <a:blip r:embed="rId11">
            <a:alphaModFix/>
          </a:blip>
          <a:srcRect b="0" l="0" r="0" t="0"/>
          <a:stretch/>
        </p:blipFill>
        <p:spPr>
          <a:xfrm>
            <a:off x="2476500" y="2755106"/>
            <a:ext cx="942975" cy="261937"/>
          </a:xfrm>
          <a:prstGeom prst="rect">
            <a:avLst/>
          </a:prstGeom>
          <a:noFill/>
          <a:ln>
            <a:noFill/>
          </a:ln>
        </p:spPr>
      </p:pic>
      <p:pic>
        <p:nvPicPr>
          <p:cNvPr descr="image.png" id="148" name="Google Shape;148;p16"/>
          <p:cNvPicPr preferRelativeResize="0"/>
          <p:nvPr/>
        </p:nvPicPr>
        <p:blipFill rotWithShape="1">
          <a:blip r:embed="rId12">
            <a:alphaModFix/>
          </a:blip>
          <a:srcRect b="0" l="0" r="0" t="0"/>
          <a:stretch/>
        </p:blipFill>
        <p:spPr>
          <a:xfrm>
            <a:off x="3476625" y="2755106"/>
            <a:ext cx="1295400" cy="261937"/>
          </a:xfrm>
          <a:prstGeom prst="rect">
            <a:avLst/>
          </a:prstGeom>
          <a:noFill/>
          <a:ln>
            <a:noFill/>
          </a:ln>
        </p:spPr>
      </p:pic>
      <p:sp>
        <p:nvSpPr>
          <p:cNvPr id="149" name="Google Shape;149;p16"/>
          <p:cNvSpPr txBox="1"/>
          <p:nvPr/>
        </p:nvSpPr>
        <p:spPr>
          <a:xfrm>
            <a:off x="1085850" y="3331368"/>
            <a:ext cx="454818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Framework Django :</a:t>
            </a:r>
            <a:r>
              <a:rPr b="0" i="0" lang="en-US" sz="1275" u="none" cap="none" strike="noStrike">
                <a:solidFill>
                  <a:srgbClr val="334155"/>
                </a:solidFill>
                <a:latin typeface="Inter"/>
                <a:ea typeface="Inter"/>
                <a:cs typeface="Inter"/>
                <a:sym typeface="Inter"/>
              </a:rPr>
              <a:t> Robustesse, ORM puissant, sécurité intégrée.</a:t>
            </a:r>
            <a:endParaRPr/>
          </a:p>
        </p:txBody>
      </p:sp>
      <p:sp>
        <p:nvSpPr>
          <p:cNvPr id="150" name="Google Shape;150;p16"/>
          <p:cNvSpPr txBox="1"/>
          <p:nvPr/>
        </p:nvSpPr>
        <p:spPr>
          <a:xfrm>
            <a:off x="1085850" y="3931443"/>
            <a:ext cx="454818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PostgreSQL :</a:t>
            </a:r>
            <a:r>
              <a:rPr b="0" i="0" lang="en-US" sz="1275" u="none" cap="none" strike="noStrike">
                <a:solidFill>
                  <a:srgbClr val="334155"/>
                </a:solidFill>
                <a:latin typeface="Inter"/>
                <a:ea typeface="Inter"/>
                <a:cs typeface="Inter"/>
                <a:sym typeface="Inter"/>
              </a:rPr>
              <a:t> Base relationnelle performante en environnement de production.</a:t>
            </a:r>
            <a:endParaRPr/>
          </a:p>
        </p:txBody>
      </p:sp>
      <p:sp>
        <p:nvSpPr>
          <p:cNvPr id="151" name="Google Shape;151;p16"/>
          <p:cNvSpPr txBox="1"/>
          <p:nvPr/>
        </p:nvSpPr>
        <p:spPr>
          <a:xfrm>
            <a:off x="1085850" y="4531518"/>
            <a:ext cx="454818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Gunicorn &amp; WhiteNoise :</a:t>
            </a:r>
            <a:r>
              <a:rPr b="0" i="0" lang="en-US" sz="1275" u="none" cap="none" strike="noStrike">
                <a:solidFill>
                  <a:srgbClr val="334155"/>
                </a:solidFill>
                <a:latin typeface="Inter"/>
                <a:ea typeface="Inter"/>
                <a:cs typeface="Inter"/>
                <a:sym typeface="Inter"/>
              </a:rPr>
              <a:t> Serveur WSGI et gestion des fichiers statiques.</a:t>
            </a:r>
            <a:endParaRPr/>
          </a:p>
        </p:txBody>
      </p:sp>
      <p:pic>
        <p:nvPicPr>
          <p:cNvPr descr="image.png" id="152" name="Google Shape;152;p16"/>
          <p:cNvPicPr preferRelativeResize="0"/>
          <p:nvPr/>
        </p:nvPicPr>
        <p:blipFill rotWithShape="1">
          <a:blip r:embed="rId13">
            <a:alphaModFix/>
          </a:blip>
          <a:srcRect b="0" l="0" r="0" t="0"/>
          <a:stretch/>
        </p:blipFill>
        <p:spPr>
          <a:xfrm>
            <a:off x="6557962" y="2412206"/>
            <a:ext cx="266700" cy="209550"/>
          </a:xfrm>
          <a:prstGeom prst="rect">
            <a:avLst/>
          </a:prstGeom>
          <a:noFill/>
          <a:ln>
            <a:noFill/>
          </a:ln>
        </p:spPr>
      </p:pic>
      <p:pic>
        <p:nvPicPr>
          <p:cNvPr descr="image.png" id="153" name="Google Shape;153;p16"/>
          <p:cNvPicPr preferRelativeResize="0"/>
          <p:nvPr/>
        </p:nvPicPr>
        <p:blipFill rotWithShape="1">
          <a:blip r:embed="rId14">
            <a:alphaModFix/>
          </a:blip>
          <a:srcRect b="0" l="0" r="0" t="0"/>
          <a:stretch/>
        </p:blipFill>
        <p:spPr>
          <a:xfrm>
            <a:off x="6557962" y="2755106"/>
            <a:ext cx="1057275" cy="261937"/>
          </a:xfrm>
          <a:prstGeom prst="rect">
            <a:avLst/>
          </a:prstGeom>
          <a:noFill/>
          <a:ln>
            <a:noFill/>
          </a:ln>
        </p:spPr>
      </p:pic>
      <p:pic>
        <p:nvPicPr>
          <p:cNvPr descr="image.png" id="154" name="Google Shape;154;p16"/>
          <p:cNvPicPr preferRelativeResize="0"/>
          <p:nvPr/>
        </p:nvPicPr>
        <p:blipFill rotWithShape="1">
          <a:blip r:embed="rId15">
            <a:alphaModFix/>
          </a:blip>
          <a:srcRect b="0" l="0" r="0" t="0"/>
          <a:stretch/>
        </p:blipFill>
        <p:spPr>
          <a:xfrm>
            <a:off x="7672387" y="2755106"/>
            <a:ext cx="828675" cy="261937"/>
          </a:xfrm>
          <a:prstGeom prst="rect">
            <a:avLst/>
          </a:prstGeom>
          <a:noFill/>
          <a:ln>
            <a:noFill/>
          </a:ln>
        </p:spPr>
      </p:pic>
      <p:pic>
        <p:nvPicPr>
          <p:cNvPr descr="image.png" id="155" name="Google Shape;155;p16"/>
          <p:cNvPicPr preferRelativeResize="0"/>
          <p:nvPr/>
        </p:nvPicPr>
        <p:blipFill rotWithShape="1">
          <a:blip r:embed="rId16">
            <a:alphaModFix/>
          </a:blip>
          <a:srcRect b="0" l="0" r="0" t="0"/>
          <a:stretch/>
        </p:blipFill>
        <p:spPr>
          <a:xfrm>
            <a:off x="8558212" y="2755106"/>
            <a:ext cx="885825" cy="261937"/>
          </a:xfrm>
          <a:prstGeom prst="rect">
            <a:avLst/>
          </a:prstGeom>
          <a:noFill/>
          <a:ln>
            <a:noFill/>
          </a:ln>
        </p:spPr>
      </p:pic>
      <p:pic>
        <p:nvPicPr>
          <p:cNvPr descr="image.png" id="156" name="Google Shape;156;p16"/>
          <p:cNvPicPr preferRelativeResize="0"/>
          <p:nvPr/>
        </p:nvPicPr>
        <p:blipFill rotWithShape="1">
          <a:blip r:embed="rId17">
            <a:alphaModFix/>
          </a:blip>
          <a:srcRect b="0" l="0" r="0" t="0"/>
          <a:stretch/>
        </p:blipFill>
        <p:spPr>
          <a:xfrm>
            <a:off x="9501187" y="2755106"/>
            <a:ext cx="885825" cy="261937"/>
          </a:xfrm>
          <a:prstGeom prst="rect">
            <a:avLst/>
          </a:prstGeom>
          <a:noFill/>
          <a:ln>
            <a:noFill/>
          </a:ln>
        </p:spPr>
      </p:pic>
      <p:pic>
        <p:nvPicPr>
          <p:cNvPr descr="image.png" id="157" name="Google Shape;157;p16"/>
          <p:cNvPicPr preferRelativeResize="0"/>
          <p:nvPr/>
        </p:nvPicPr>
        <p:blipFill rotWithShape="1">
          <a:blip r:embed="rId18">
            <a:alphaModFix/>
          </a:blip>
          <a:srcRect b="0" l="0" r="0" t="0"/>
          <a:stretch/>
        </p:blipFill>
        <p:spPr>
          <a:xfrm>
            <a:off x="10444162" y="2755106"/>
            <a:ext cx="638175" cy="261937"/>
          </a:xfrm>
          <a:prstGeom prst="rect">
            <a:avLst/>
          </a:prstGeom>
          <a:noFill/>
          <a:ln>
            <a:noFill/>
          </a:ln>
        </p:spPr>
      </p:pic>
      <p:sp>
        <p:nvSpPr>
          <p:cNvPr id="158" name="Google Shape;158;p16"/>
          <p:cNvSpPr txBox="1"/>
          <p:nvPr/>
        </p:nvSpPr>
        <p:spPr>
          <a:xfrm>
            <a:off x="6824662" y="3331368"/>
            <a:ext cx="454818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Bootstrap 5 &amp; Icons :</a:t>
            </a:r>
            <a:r>
              <a:rPr b="0" i="0" lang="en-US" sz="1275" u="none" cap="none" strike="noStrike">
                <a:solidFill>
                  <a:srgbClr val="334155"/>
                </a:solidFill>
                <a:latin typeface="Inter"/>
                <a:ea typeface="Inter"/>
                <a:cs typeface="Inter"/>
                <a:sym typeface="Inter"/>
              </a:rPr>
              <a:t> Interface responsive, moderne et épurée.</a:t>
            </a:r>
            <a:endParaRPr/>
          </a:p>
        </p:txBody>
      </p:sp>
      <p:sp>
        <p:nvSpPr>
          <p:cNvPr id="159" name="Google Shape;159;p16"/>
          <p:cNvSpPr txBox="1"/>
          <p:nvPr/>
        </p:nvSpPr>
        <p:spPr>
          <a:xfrm>
            <a:off x="6824662" y="3931443"/>
            <a:ext cx="4548187" cy="242887"/>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Git &amp; GitHub :</a:t>
            </a:r>
            <a:r>
              <a:rPr b="0" i="0" lang="en-US" sz="1275" u="none" cap="none" strike="noStrike">
                <a:solidFill>
                  <a:srgbClr val="334155"/>
                </a:solidFill>
                <a:latin typeface="Inter"/>
                <a:ea typeface="Inter"/>
                <a:cs typeface="Inter"/>
                <a:sym typeface="Inter"/>
              </a:rPr>
              <a:t> Versionning et intégration continue.</a:t>
            </a:r>
            <a:endParaRPr/>
          </a:p>
        </p:txBody>
      </p:sp>
      <p:sp>
        <p:nvSpPr>
          <p:cNvPr id="160" name="Google Shape;160;p16"/>
          <p:cNvSpPr txBox="1"/>
          <p:nvPr/>
        </p:nvSpPr>
        <p:spPr>
          <a:xfrm>
            <a:off x="6824662" y="4288631"/>
            <a:ext cx="454818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Railway :</a:t>
            </a:r>
            <a:r>
              <a:rPr b="0" i="0" lang="en-US" sz="1275" u="none" cap="none" strike="noStrike">
                <a:solidFill>
                  <a:srgbClr val="334155"/>
                </a:solidFill>
                <a:latin typeface="Inter"/>
                <a:ea typeface="Inter"/>
                <a:cs typeface="Inter"/>
                <a:sym typeface="Inter"/>
              </a:rPr>
              <a:t> Hébergement cloud, déploiement automatisé depuis GitHub.</a:t>
            </a:r>
            <a:endParaRPr/>
          </a:p>
        </p:txBody>
      </p:sp>
      <p:sp>
        <p:nvSpPr>
          <p:cNvPr id="161" name="Google Shape;161;p16"/>
          <p:cNvSpPr txBox="1"/>
          <p:nvPr/>
        </p:nvSpPr>
        <p:spPr>
          <a:xfrm>
            <a:off x="819150" y="3331368"/>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162" name="Google Shape;162;p16"/>
          <p:cNvSpPr txBox="1"/>
          <p:nvPr/>
        </p:nvSpPr>
        <p:spPr>
          <a:xfrm>
            <a:off x="819150" y="3931443"/>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163" name="Google Shape;163;p16"/>
          <p:cNvSpPr txBox="1"/>
          <p:nvPr/>
        </p:nvSpPr>
        <p:spPr>
          <a:xfrm>
            <a:off x="819150" y="4531518"/>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164" name="Google Shape;164;p16"/>
          <p:cNvSpPr txBox="1"/>
          <p:nvPr/>
        </p:nvSpPr>
        <p:spPr>
          <a:xfrm>
            <a:off x="6557962" y="3331368"/>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165" name="Google Shape;165;p16"/>
          <p:cNvSpPr txBox="1"/>
          <p:nvPr/>
        </p:nvSpPr>
        <p:spPr>
          <a:xfrm>
            <a:off x="6557962" y="3931443"/>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166" name="Google Shape;166;p16"/>
          <p:cNvSpPr txBox="1"/>
          <p:nvPr/>
        </p:nvSpPr>
        <p:spPr>
          <a:xfrm>
            <a:off x="6557962" y="4288631"/>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167" name="Google Shape;167;p16"/>
          <p:cNvSpPr txBox="1"/>
          <p:nvPr/>
        </p:nvSpPr>
        <p:spPr>
          <a:xfrm>
            <a:off x="971550" y="428625"/>
            <a:ext cx="11220450"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550" u="none" cap="none" strike="noStrike">
                <a:solidFill>
                  <a:srgbClr val="0F172A"/>
                </a:solidFill>
                <a:latin typeface="Plus Jakarta Sans ExtraBold"/>
                <a:ea typeface="Plus Jakarta Sans ExtraBold"/>
                <a:cs typeface="Plus Jakarta Sans ExtraBold"/>
                <a:sym typeface="Plus Jakarta Sans ExtraBold"/>
              </a:rPr>
              <a:t>Stack Technologique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pic>
        <p:nvPicPr>
          <p:cNvPr descr="image.png" id="172" name="Google Shape;172;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3" name="Google Shape;173;p17"/>
          <p:cNvPicPr preferRelativeResize="0"/>
          <p:nvPr/>
        </p:nvPicPr>
        <p:blipFill rotWithShape="1">
          <a:blip r:embed="rId4">
            <a:alphaModFix/>
          </a:blip>
          <a:srcRect b="0" l="0" r="0" t="0"/>
          <a:stretch/>
        </p:blipFill>
        <p:spPr>
          <a:xfrm>
            <a:off x="523875" y="1600200"/>
            <a:ext cx="5405437" cy="4305300"/>
          </a:xfrm>
          <a:prstGeom prst="rect">
            <a:avLst/>
          </a:prstGeom>
          <a:noFill/>
          <a:ln>
            <a:noFill/>
          </a:ln>
        </p:spPr>
      </p:pic>
      <p:pic>
        <p:nvPicPr>
          <p:cNvPr descr="image.png" id="174" name="Google Shape;174;p17"/>
          <p:cNvPicPr preferRelativeResize="0"/>
          <p:nvPr/>
        </p:nvPicPr>
        <p:blipFill rotWithShape="1">
          <a:blip r:embed="rId5">
            <a:alphaModFix/>
          </a:blip>
          <a:srcRect b="0" l="0" r="0" t="0"/>
          <a:stretch/>
        </p:blipFill>
        <p:spPr>
          <a:xfrm>
            <a:off x="771525" y="2228850"/>
            <a:ext cx="4910137" cy="381000"/>
          </a:xfrm>
          <a:prstGeom prst="rect">
            <a:avLst/>
          </a:prstGeom>
          <a:noFill/>
          <a:ln>
            <a:noFill/>
          </a:ln>
        </p:spPr>
      </p:pic>
      <p:pic>
        <p:nvPicPr>
          <p:cNvPr descr="image.png" id="175" name="Google Shape;175;p17"/>
          <p:cNvPicPr preferRelativeResize="0"/>
          <p:nvPr/>
        </p:nvPicPr>
        <p:blipFill rotWithShape="1">
          <a:blip r:embed="rId6">
            <a:alphaModFix/>
          </a:blip>
          <a:srcRect b="0" l="0" r="0" t="0"/>
          <a:stretch/>
        </p:blipFill>
        <p:spPr>
          <a:xfrm>
            <a:off x="771525" y="2990850"/>
            <a:ext cx="4910137" cy="381000"/>
          </a:xfrm>
          <a:prstGeom prst="rect">
            <a:avLst/>
          </a:prstGeom>
          <a:noFill/>
          <a:ln>
            <a:noFill/>
          </a:ln>
        </p:spPr>
      </p:pic>
      <p:pic>
        <p:nvPicPr>
          <p:cNvPr descr="image.png" id="176" name="Google Shape;176;p17"/>
          <p:cNvPicPr preferRelativeResize="0"/>
          <p:nvPr/>
        </p:nvPicPr>
        <p:blipFill rotWithShape="1">
          <a:blip r:embed="rId7">
            <a:alphaModFix/>
          </a:blip>
          <a:srcRect b="0" l="0" r="0" t="0"/>
          <a:stretch/>
        </p:blipFill>
        <p:spPr>
          <a:xfrm>
            <a:off x="771525" y="3752850"/>
            <a:ext cx="4910137" cy="381000"/>
          </a:xfrm>
          <a:prstGeom prst="rect">
            <a:avLst/>
          </a:prstGeom>
          <a:noFill/>
          <a:ln>
            <a:noFill/>
          </a:ln>
        </p:spPr>
      </p:pic>
      <p:pic>
        <p:nvPicPr>
          <p:cNvPr descr="image.png" id="177" name="Google Shape;177;p17"/>
          <p:cNvPicPr preferRelativeResize="0"/>
          <p:nvPr/>
        </p:nvPicPr>
        <p:blipFill rotWithShape="1">
          <a:blip r:embed="rId8">
            <a:alphaModFix/>
          </a:blip>
          <a:srcRect b="0" l="0" r="0" t="0"/>
          <a:stretch/>
        </p:blipFill>
        <p:spPr>
          <a:xfrm>
            <a:off x="771525" y="4514850"/>
            <a:ext cx="4910137" cy="381000"/>
          </a:xfrm>
          <a:prstGeom prst="rect">
            <a:avLst/>
          </a:prstGeom>
          <a:noFill/>
          <a:ln>
            <a:noFill/>
          </a:ln>
        </p:spPr>
      </p:pic>
      <p:pic>
        <p:nvPicPr>
          <p:cNvPr descr="image.png" id="178" name="Google Shape;178;p17"/>
          <p:cNvPicPr preferRelativeResize="0"/>
          <p:nvPr/>
        </p:nvPicPr>
        <p:blipFill rotWithShape="1">
          <a:blip r:embed="rId9">
            <a:alphaModFix/>
          </a:blip>
          <a:srcRect b="0" l="0" r="0" t="0"/>
          <a:stretch/>
        </p:blipFill>
        <p:spPr>
          <a:xfrm>
            <a:off x="771525" y="5276850"/>
            <a:ext cx="4910137" cy="381000"/>
          </a:xfrm>
          <a:prstGeom prst="rect">
            <a:avLst/>
          </a:prstGeom>
          <a:noFill/>
          <a:ln>
            <a:noFill/>
          </a:ln>
        </p:spPr>
      </p:pic>
      <p:pic>
        <p:nvPicPr>
          <p:cNvPr descr="image.png" id="179" name="Google Shape;179;p17"/>
          <p:cNvPicPr preferRelativeResize="0"/>
          <p:nvPr/>
        </p:nvPicPr>
        <p:blipFill rotWithShape="1">
          <a:blip r:embed="rId10">
            <a:alphaModFix/>
          </a:blip>
          <a:srcRect b="0" l="0" r="0" t="0"/>
          <a:stretch/>
        </p:blipFill>
        <p:spPr>
          <a:xfrm>
            <a:off x="0" y="6353175"/>
            <a:ext cx="12192000" cy="504825"/>
          </a:xfrm>
          <a:prstGeom prst="rect">
            <a:avLst/>
          </a:prstGeom>
          <a:noFill/>
          <a:ln>
            <a:noFill/>
          </a:ln>
        </p:spPr>
      </p:pic>
      <p:pic>
        <p:nvPicPr>
          <p:cNvPr descr="image.png" id="180" name="Google Shape;180;p17"/>
          <p:cNvPicPr preferRelativeResize="0"/>
          <p:nvPr/>
        </p:nvPicPr>
        <p:blipFill rotWithShape="1">
          <a:blip r:embed="rId11">
            <a:alphaModFix/>
          </a:blip>
          <a:srcRect b="0" l="0" r="0" t="0"/>
          <a:stretch/>
        </p:blipFill>
        <p:spPr>
          <a:xfrm>
            <a:off x="523875" y="500062"/>
            <a:ext cx="304800" cy="266700"/>
          </a:xfrm>
          <a:prstGeom prst="rect">
            <a:avLst/>
          </a:prstGeom>
          <a:noFill/>
          <a:ln>
            <a:noFill/>
          </a:ln>
        </p:spPr>
      </p:pic>
      <p:sp>
        <p:nvSpPr>
          <p:cNvPr id="181" name="Google Shape;181;p17"/>
          <p:cNvSpPr txBox="1"/>
          <p:nvPr/>
        </p:nvSpPr>
        <p:spPr>
          <a:xfrm>
            <a:off x="285750" y="6457950"/>
            <a:ext cx="9877425" cy="30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475569"/>
                </a:solidFill>
                <a:latin typeface="Inter"/>
                <a:ea typeface="Inter"/>
                <a:cs typeface="Inter"/>
                <a:sym typeface="Inter"/>
              </a:rPr>
              <a:t>L'architecture globale respecte le modèle MTV de Django. Le projet est découpé en deux applications principales : "accounts" pour la gestion des comptes et la sécurité, et "projects" pour la gestion des projets, des tâches et des statistiques.</a:t>
            </a:r>
            <a:endParaRPr/>
          </a:p>
        </p:txBody>
      </p:sp>
      <p:sp>
        <p:nvSpPr>
          <p:cNvPr id="182" name="Google Shape;182;p17"/>
          <p:cNvSpPr txBox="1"/>
          <p:nvPr/>
        </p:nvSpPr>
        <p:spPr>
          <a:xfrm>
            <a:off x="11620500" y="6538912"/>
            <a:ext cx="28575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Inter"/>
                <a:ea typeface="Inter"/>
                <a:cs typeface="Inter"/>
                <a:sym typeface="Inter"/>
              </a:rPr>
              <a:t>5 / 15</a:t>
            </a:r>
            <a:endParaRPr/>
          </a:p>
        </p:txBody>
      </p:sp>
      <p:sp>
        <p:nvSpPr>
          <p:cNvPr id="183" name="Google Shape;183;p17"/>
          <p:cNvSpPr txBox="1"/>
          <p:nvPr/>
        </p:nvSpPr>
        <p:spPr>
          <a:xfrm>
            <a:off x="771525" y="1847850"/>
            <a:ext cx="5155644"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284C7"/>
                </a:solidFill>
                <a:latin typeface="Plus Jakarta Sans"/>
                <a:ea typeface="Plus Jakarta Sans"/>
                <a:cs typeface="Plus Jakarta Sans"/>
                <a:sym typeface="Plus Jakarta Sans"/>
              </a:rPr>
              <a:t>Schéma Flux Données</a:t>
            </a:r>
            <a:endParaRPr/>
          </a:p>
        </p:txBody>
      </p:sp>
      <p:sp>
        <p:nvSpPr>
          <p:cNvPr id="184" name="Google Shape;184;p17"/>
          <p:cNvSpPr txBox="1"/>
          <p:nvPr/>
        </p:nvSpPr>
        <p:spPr>
          <a:xfrm>
            <a:off x="6262687" y="2647950"/>
            <a:ext cx="5675709"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Modularité du Projet</a:t>
            </a:r>
            <a:endParaRPr/>
          </a:p>
        </p:txBody>
      </p:sp>
      <p:sp>
        <p:nvSpPr>
          <p:cNvPr id="185" name="Google Shape;185;p17"/>
          <p:cNvSpPr txBox="1"/>
          <p:nvPr/>
        </p:nvSpPr>
        <p:spPr>
          <a:xfrm>
            <a:off x="6529387" y="3057525"/>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App accounts :</a:t>
            </a:r>
            <a:r>
              <a:rPr b="0" i="0" lang="en-US" sz="1275" u="none" cap="none" strike="noStrike">
                <a:solidFill>
                  <a:srgbClr val="334155"/>
                </a:solidFill>
                <a:latin typeface="Inter"/>
                <a:ea typeface="Inter"/>
                <a:cs typeface="Inter"/>
                <a:sym typeface="Inter"/>
              </a:rPr>
              <a:t> Prise en charge exclusive de l'authentification, la création de profil et la sécurité des sessions.</a:t>
            </a:r>
            <a:endParaRPr/>
          </a:p>
        </p:txBody>
      </p:sp>
      <p:sp>
        <p:nvSpPr>
          <p:cNvPr id="186" name="Google Shape;186;p17"/>
          <p:cNvSpPr txBox="1"/>
          <p:nvPr/>
        </p:nvSpPr>
        <p:spPr>
          <a:xfrm>
            <a:off x="6529387" y="3657600"/>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App projects :</a:t>
            </a:r>
            <a:r>
              <a:rPr b="0" i="0" lang="en-US" sz="1275" u="none" cap="none" strike="noStrike">
                <a:solidFill>
                  <a:srgbClr val="334155"/>
                </a:solidFill>
                <a:latin typeface="Inter"/>
                <a:ea typeface="Inter"/>
                <a:cs typeface="Inter"/>
                <a:sym typeface="Inter"/>
              </a:rPr>
              <a:t> Logique métier englobant les modèles Projets, Tâches, états d'avancement et calculs du Dashboard.</a:t>
            </a:r>
            <a:endParaRPr/>
          </a:p>
        </p:txBody>
      </p:sp>
      <p:sp>
        <p:nvSpPr>
          <p:cNvPr id="187" name="Google Shape;187;p17"/>
          <p:cNvSpPr txBox="1"/>
          <p:nvPr/>
        </p:nvSpPr>
        <p:spPr>
          <a:xfrm>
            <a:off x="6529387" y="4257675"/>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Séparation des responsabilités :</a:t>
            </a:r>
            <a:r>
              <a:rPr b="0" i="0" lang="en-US" sz="1275" u="none" cap="none" strike="noStrike">
                <a:solidFill>
                  <a:srgbClr val="334155"/>
                </a:solidFill>
                <a:latin typeface="Inter"/>
                <a:ea typeface="Inter"/>
                <a:cs typeface="Inter"/>
                <a:sym typeface="Inter"/>
              </a:rPr>
              <a:t> Découpage propre facilitant la maintenance et l'évolutivité future.</a:t>
            </a:r>
            <a:endParaRPr/>
          </a:p>
        </p:txBody>
      </p:sp>
      <p:pic>
        <p:nvPicPr>
          <p:cNvPr descr="image.png" id="188" name="Google Shape;188;p17"/>
          <p:cNvPicPr preferRelativeResize="0"/>
          <p:nvPr/>
        </p:nvPicPr>
        <p:blipFill rotWithShape="1">
          <a:blip r:embed="rId12">
            <a:alphaModFix/>
          </a:blip>
          <a:srcRect b="0" l="0" r="0" t="0"/>
          <a:stretch/>
        </p:blipFill>
        <p:spPr>
          <a:xfrm>
            <a:off x="3169443" y="2724150"/>
            <a:ext cx="114300" cy="152400"/>
          </a:xfrm>
          <a:prstGeom prst="rect">
            <a:avLst/>
          </a:prstGeom>
          <a:noFill/>
          <a:ln>
            <a:noFill/>
          </a:ln>
        </p:spPr>
      </p:pic>
      <p:pic>
        <p:nvPicPr>
          <p:cNvPr descr="image.png" id="189" name="Google Shape;189;p17"/>
          <p:cNvPicPr preferRelativeResize="0"/>
          <p:nvPr/>
        </p:nvPicPr>
        <p:blipFill rotWithShape="1">
          <a:blip r:embed="rId12">
            <a:alphaModFix/>
          </a:blip>
          <a:srcRect b="0" l="0" r="0" t="0"/>
          <a:stretch/>
        </p:blipFill>
        <p:spPr>
          <a:xfrm>
            <a:off x="3169443" y="3486150"/>
            <a:ext cx="114300" cy="152400"/>
          </a:xfrm>
          <a:prstGeom prst="rect">
            <a:avLst/>
          </a:prstGeom>
          <a:noFill/>
          <a:ln>
            <a:noFill/>
          </a:ln>
        </p:spPr>
      </p:pic>
      <p:pic>
        <p:nvPicPr>
          <p:cNvPr descr="image.png" id="190" name="Google Shape;190;p17"/>
          <p:cNvPicPr preferRelativeResize="0"/>
          <p:nvPr/>
        </p:nvPicPr>
        <p:blipFill rotWithShape="1">
          <a:blip r:embed="rId12">
            <a:alphaModFix/>
          </a:blip>
          <a:srcRect b="0" l="0" r="0" t="0"/>
          <a:stretch/>
        </p:blipFill>
        <p:spPr>
          <a:xfrm>
            <a:off x="3169443" y="4248150"/>
            <a:ext cx="114300" cy="152400"/>
          </a:xfrm>
          <a:prstGeom prst="rect">
            <a:avLst/>
          </a:prstGeom>
          <a:noFill/>
          <a:ln>
            <a:noFill/>
          </a:ln>
        </p:spPr>
      </p:pic>
      <p:pic>
        <p:nvPicPr>
          <p:cNvPr descr="image.png" id="191" name="Google Shape;191;p17"/>
          <p:cNvPicPr preferRelativeResize="0"/>
          <p:nvPr/>
        </p:nvPicPr>
        <p:blipFill rotWithShape="1">
          <a:blip r:embed="rId12">
            <a:alphaModFix/>
          </a:blip>
          <a:srcRect b="0" l="0" r="0" t="0"/>
          <a:stretch/>
        </p:blipFill>
        <p:spPr>
          <a:xfrm>
            <a:off x="3169443" y="5010150"/>
            <a:ext cx="114300" cy="152400"/>
          </a:xfrm>
          <a:prstGeom prst="rect">
            <a:avLst/>
          </a:prstGeom>
          <a:noFill/>
          <a:ln>
            <a:noFill/>
          </a:ln>
        </p:spPr>
      </p:pic>
      <p:sp>
        <p:nvSpPr>
          <p:cNvPr id="192" name="Google Shape;192;p17"/>
          <p:cNvSpPr txBox="1"/>
          <p:nvPr/>
        </p:nvSpPr>
        <p:spPr>
          <a:xfrm>
            <a:off x="6262687" y="3057525"/>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193" name="Google Shape;193;p17"/>
          <p:cNvSpPr txBox="1"/>
          <p:nvPr/>
        </p:nvSpPr>
        <p:spPr>
          <a:xfrm>
            <a:off x="6262687" y="3657600"/>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194" name="Google Shape;194;p17"/>
          <p:cNvSpPr txBox="1"/>
          <p:nvPr/>
        </p:nvSpPr>
        <p:spPr>
          <a:xfrm>
            <a:off x="6262687" y="4257675"/>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195" name="Google Shape;195;p17"/>
          <p:cNvSpPr txBox="1"/>
          <p:nvPr/>
        </p:nvSpPr>
        <p:spPr>
          <a:xfrm>
            <a:off x="942975" y="428625"/>
            <a:ext cx="11249025"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550" u="none" cap="none" strike="noStrike">
                <a:solidFill>
                  <a:srgbClr val="0F172A"/>
                </a:solidFill>
                <a:latin typeface="Plus Jakarta Sans ExtraBold"/>
                <a:ea typeface="Plus Jakarta Sans ExtraBold"/>
                <a:cs typeface="Plus Jakarta Sans ExtraBold"/>
                <a:sym typeface="Plus Jakarta Sans ExtraBold"/>
              </a:rPr>
              <a:t>Architecture de l'Application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 name="Shape 199"/>
        <p:cNvGrpSpPr/>
        <p:nvPr/>
      </p:nvGrpSpPr>
      <p:grpSpPr>
        <a:xfrm>
          <a:off x="0" y="0"/>
          <a:ext cx="0" cy="0"/>
          <a:chOff x="0" y="0"/>
          <a:chExt cx="0" cy="0"/>
        </a:xfrm>
      </p:grpSpPr>
      <p:pic>
        <p:nvPicPr>
          <p:cNvPr descr="image.png" id="200" name="Google Shape;200;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01" name="Google Shape;201;p18" title="Capture d’écran 2026-08-12 à 00.25.25.png"/>
          <p:cNvPicPr preferRelativeResize="0"/>
          <p:nvPr/>
        </p:nvPicPr>
        <p:blipFill rotWithShape="1">
          <a:blip r:embed="rId4">
            <a:alphaModFix/>
          </a:blip>
          <a:srcRect b="0" l="3332" r="3332" t="0"/>
          <a:stretch/>
        </p:blipFill>
        <p:spPr>
          <a:xfrm>
            <a:off x="6262687" y="1943100"/>
            <a:ext cx="5405437" cy="3619500"/>
          </a:xfrm>
          <a:prstGeom prst="rect">
            <a:avLst/>
          </a:prstGeom>
          <a:noFill/>
          <a:ln>
            <a:noFill/>
          </a:ln>
        </p:spPr>
      </p:pic>
      <p:pic>
        <p:nvPicPr>
          <p:cNvPr descr="image.png" id="202" name="Google Shape;202;p18"/>
          <p:cNvPicPr preferRelativeResize="0"/>
          <p:nvPr/>
        </p:nvPicPr>
        <p:blipFill rotWithShape="1">
          <a:blip r:embed="rId5">
            <a:alphaModFix/>
          </a:blip>
          <a:srcRect b="0" l="0" r="0" t="0"/>
          <a:stretch/>
        </p:blipFill>
        <p:spPr>
          <a:xfrm>
            <a:off x="0" y="6353175"/>
            <a:ext cx="12192000" cy="504825"/>
          </a:xfrm>
          <a:prstGeom prst="rect">
            <a:avLst/>
          </a:prstGeom>
          <a:noFill/>
          <a:ln>
            <a:noFill/>
          </a:ln>
        </p:spPr>
      </p:pic>
      <p:pic>
        <p:nvPicPr>
          <p:cNvPr descr="image.png" id="203" name="Google Shape;203;p18"/>
          <p:cNvPicPr preferRelativeResize="0"/>
          <p:nvPr/>
        </p:nvPicPr>
        <p:blipFill rotWithShape="1">
          <a:blip r:embed="rId6">
            <a:alphaModFix/>
          </a:blip>
          <a:srcRect b="0" l="0" r="0" t="0"/>
          <a:stretch/>
        </p:blipFill>
        <p:spPr>
          <a:xfrm>
            <a:off x="523875" y="500062"/>
            <a:ext cx="333375" cy="266700"/>
          </a:xfrm>
          <a:prstGeom prst="rect">
            <a:avLst/>
          </a:prstGeom>
          <a:noFill/>
          <a:ln>
            <a:noFill/>
          </a:ln>
        </p:spPr>
      </p:pic>
      <p:sp>
        <p:nvSpPr>
          <p:cNvPr id="204" name="Google Shape;204;p18"/>
          <p:cNvSpPr txBox="1"/>
          <p:nvPr/>
        </p:nvSpPr>
        <p:spPr>
          <a:xfrm>
            <a:off x="285750" y="6457950"/>
            <a:ext cx="9877425" cy="30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475569"/>
                </a:solidFill>
                <a:latin typeface="Inter"/>
                <a:ea typeface="Inter"/>
                <a:cs typeface="Inter"/>
                <a:sym typeface="Inter"/>
              </a:rPr>
              <a:t>L'authentification s'appuie sur le système natif de Django. Comme illustré sur cette capture de l'interface de connexion, les utilisateurs disposent d'un espace sécurisé garanti par le hachage des mots de passe et l'isolation complète de leurs données.</a:t>
            </a:r>
            <a:endParaRPr/>
          </a:p>
        </p:txBody>
      </p:sp>
      <p:sp>
        <p:nvSpPr>
          <p:cNvPr id="205" name="Google Shape;205;p18"/>
          <p:cNvSpPr txBox="1"/>
          <p:nvPr/>
        </p:nvSpPr>
        <p:spPr>
          <a:xfrm>
            <a:off x="11610975" y="6538912"/>
            <a:ext cx="2952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Inter"/>
                <a:ea typeface="Inter"/>
                <a:cs typeface="Inter"/>
                <a:sym typeface="Inter"/>
              </a:rPr>
              <a:t>6 / 15</a:t>
            </a:r>
            <a:endParaRPr/>
          </a:p>
        </p:txBody>
      </p:sp>
      <p:sp>
        <p:nvSpPr>
          <p:cNvPr id="206" name="Google Shape;206;p18"/>
          <p:cNvSpPr txBox="1"/>
          <p:nvPr/>
        </p:nvSpPr>
        <p:spPr>
          <a:xfrm>
            <a:off x="523875" y="2443162"/>
            <a:ext cx="5675709"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F172A"/>
                </a:solidFill>
                <a:latin typeface="Plus Jakarta Sans"/>
                <a:ea typeface="Plus Jakarta Sans"/>
                <a:cs typeface="Plus Jakarta Sans"/>
                <a:sym typeface="Plus Jakarta Sans"/>
              </a:rPr>
              <a:t>Système de Gestion des Utilisateurs</a:t>
            </a:r>
            <a:endParaRPr/>
          </a:p>
        </p:txBody>
      </p:sp>
      <p:sp>
        <p:nvSpPr>
          <p:cNvPr id="207" name="Google Shape;207;p18"/>
          <p:cNvSpPr txBox="1"/>
          <p:nvPr/>
        </p:nvSpPr>
        <p:spPr>
          <a:xfrm>
            <a:off x="790575" y="2662237"/>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Inscription &amp; Connexion :</a:t>
            </a:r>
            <a:r>
              <a:rPr b="0" i="0" lang="en-US" sz="1275" u="none" cap="none" strike="noStrike">
                <a:solidFill>
                  <a:srgbClr val="334155"/>
                </a:solidFill>
                <a:latin typeface="Inter"/>
                <a:ea typeface="Inter"/>
                <a:cs typeface="Inter"/>
                <a:sym typeface="Inter"/>
              </a:rPr>
              <a:t> Formulaires sécurisés intégrant la validation des champs et le hachage des mots de passe.</a:t>
            </a:r>
            <a:endParaRPr/>
          </a:p>
        </p:txBody>
      </p:sp>
      <p:sp>
        <p:nvSpPr>
          <p:cNvPr id="208" name="Google Shape;208;p18"/>
          <p:cNvSpPr txBox="1"/>
          <p:nvPr/>
        </p:nvSpPr>
        <p:spPr>
          <a:xfrm>
            <a:off x="790575" y="3262312"/>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Isolation des Données :</a:t>
            </a:r>
            <a:r>
              <a:rPr b="0" i="0" lang="en-US" sz="1275" u="none" cap="none" strike="noStrike">
                <a:solidFill>
                  <a:srgbClr val="334155"/>
                </a:solidFill>
                <a:latin typeface="Inter"/>
                <a:ea typeface="Inter"/>
                <a:cs typeface="Inter"/>
                <a:sym typeface="Inter"/>
              </a:rPr>
              <a:t> Chaque utilisateur connecté n'accède strictement qu'à ses propres projets et tâches.</a:t>
            </a:r>
            <a:endParaRPr/>
          </a:p>
        </p:txBody>
      </p:sp>
      <p:sp>
        <p:nvSpPr>
          <p:cNvPr id="209" name="Google Shape;209;p18"/>
          <p:cNvSpPr txBox="1"/>
          <p:nvPr/>
        </p:nvSpPr>
        <p:spPr>
          <a:xfrm>
            <a:off x="790575" y="3862387"/>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Protection des Vues :</a:t>
            </a:r>
            <a:r>
              <a:rPr b="0" i="0" lang="en-US" sz="1275" u="none" cap="none" strike="noStrike">
                <a:solidFill>
                  <a:srgbClr val="334155"/>
                </a:solidFill>
                <a:latin typeface="Inter"/>
                <a:ea typeface="Inter"/>
                <a:cs typeface="Inter"/>
                <a:sym typeface="Inter"/>
              </a:rPr>
              <a:t> Utilisation systématique du décorateur @login_required sur toutes les routes sensibles.</a:t>
            </a:r>
            <a:endParaRPr/>
          </a:p>
        </p:txBody>
      </p:sp>
      <p:sp>
        <p:nvSpPr>
          <p:cNvPr id="210" name="Google Shape;210;p18"/>
          <p:cNvSpPr txBox="1"/>
          <p:nvPr/>
        </p:nvSpPr>
        <p:spPr>
          <a:xfrm>
            <a:off x="790575" y="4462462"/>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Gestion des Sessions :</a:t>
            </a:r>
            <a:r>
              <a:rPr b="0" i="0" lang="en-US" sz="1275" u="none" cap="none" strike="noStrike">
                <a:solidFill>
                  <a:srgbClr val="334155"/>
                </a:solidFill>
                <a:latin typeface="Inter"/>
                <a:ea typeface="Inter"/>
                <a:cs typeface="Inter"/>
                <a:sym typeface="Inter"/>
              </a:rPr>
              <a:t> Déconnexion sécurisée et protection contre les attaques CSRF.</a:t>
            </a:r>
            <a:endParaRPr/>
          </a:p>
        </p:txBody>
      </p:sp>
      <p:sp>
        <p:nvSpPr>
          <p:cNvPr id="211" name="Google Shape;211;p18"/>
          <p:cNvSpPr txBox="1"/>
          <p:nvPr/>
        </p:nvSpPr>
        <p:spPr>
          <a:xfrm>
            <a:off x="523875" y="2662237"/>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212" name="Google Shape;212;p18"/>
          <p:cNvSpPr txBox="1"/>
          <p:nvPr/>
        </p:nvSpPr>
        <p:spPr>
          <a:xfrm>
            <a:off x="523875" y="3262312"/>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213" name="Google Shape;213;p18"/>
          <p:cNvSpPr txBox="1"/>
          <p:nvPr/>
        </p:nvSpPr>
        <p:spPr>
          <a:xfrm>
            <a:off x="523875" y="3862387"/>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214" name="Google Shape;214;p18"/>
          <p:cNvSpPr txBox="1"/>
          <p:nvPr/>
        </p:nvSpPr>
        <p:spPr>
          <a:xfrm>
            <a:off x="523875" y="4462462"/>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215" name="Google Shape;215;p18"/>
          <p:cNvSpPr txBox="1"/>
          <p:nvPr/>
        </p:nvSpPr>
        <p:spPr>
          <a:xfrm>
            <a:off x="971550" y="428625"/>
            <a:ext cx="11220450"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550" u="none" cap="none" strike="noStrike">
                <a:solidFill>
                  <a:srgbClr val="0F172A"/>
                </a:solidFill>
                <a:latin typeface="Plus Jakarta Sans ExtraBold"/>
                <a:ea typeface="Plus Jakarta Sans ExtraBold"/>
                <a:cs typeface="Plus Jakarta Sans ExtraBold"/>
                <a:sym typeface="Plus Jakarta Sans ExtraBold"/>
              </a:rPr>
              <a:t>Authentification &amp; Sécurité</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pic>
        <p:nvPicPr>
          <p:cNvPr descr="image.png" id="220" name="Google Shape;220;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21" name="Google Shape;221;p19" title="Capture d’écran 2026-08-12 à 00.27.05.png"/>
          <p:cNvPicPr preferRelativeResize="0"/>
          <p:nvPr/>
        </p:nvPicPr>
        <p:blipFill rotWithShape="1">
          <a:blip r:embed="rId4">
            <a:alphaModFix/>
          </a:blip>
          <a:srcRect b="0" l="3332" r="3332" t="0"/>
          <a:stretch/>
        </p:blipFill>
        <p:spPr>
          <a:xfrm>
            <a:off x="6262687" y="1943100"/>
            <a:ext cx="5405437" cy="3619500"/>
          </a:xfrm>
          <a:prstGeom prst="rect">
            <a:avLst/>
          </a:prstGeom>
          <a:noFill/>
          <a:ln>
            <a:noFill/>
          </a:ln>
        </p:spPr>
      </p:pic>
      <p:pic>
        <p:nvPicPr>
          <p:cNvPr descr="image.png" id="222" name="Google Shape;222;p19"/>
          <p:cNvPicPr preferRelativeResize="0"/>
          <p:nvPr/>
        </p:nvPicPr>
        <p:blipFill rotWithShape="1">
          <a:blip r:embed="rId5">
            <a:alphaModFix/>
          </a:blip>
          <a:srcRect b="0" l="0" r="0" t="0"/>
          <a:stretch/>
        </p:blipFill>
        <p:spPr>
          <a:xfrm>
            <a:off x="0" y="6353175"/>
            <a:ext cx="12192000" cy="504825"/>
          </a:xfrm>
          <a:prstGeom prst="rect">
            <a:avLst/>
          </a:prstGeom>
          <a:noFill/>
          <a:ln>
            <a:noFill/>
          </a:ln>
        </p:spPr>
      </p:pic>
      <p:pic>
        <p:nvPicPr>
          <p:cNvPr descr="image.png" id="223" name="Google Shape;223;p19"/>
          <p:cNvPicPr preferRelativeResize="0"/>
          <p:nvPr/>
        </p:nvPicPr>
        <p:blipFill rotWithShape="1">
          <a:blip r:embed="rId6">
            <a:alphaModFix/>
          </a:blip>
          <a:srcRect b="0" l="0" r="0" t="0"/>
          <a:stretch/>
        </p:blipFill>
        <p:spPr>
          <a:xfrm>
            <a:off x="523875" y="500062"/>
            <a:ext cx="266700" cy="266700"/>
          </a:xfrm>
          <a:prstGeom prst="rect">
            <a:avLst/>
          </a:prstGeom>
          <a:noFill/>
          <a:ln>
            <a:noFill/>
          </a:ln>
        </p:spPr>
      </p:pic>
      <p:sp>
        <p:nvSpPr>
          <p:cNvPr id="224" name="Google Shape;224;p19"/>
          <p:cNvSpPr txBox="1"/>
          <p:nvPr/>
        </p:nvSpPr>
        <p:spPr>
          <a:xfrm>
            <a:off x="285750" y="6457950"/>
            <a:ext cx="9877425" cy="30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475569"/>
                </a:solidFill>
                <a:latin typeface="Inter"/>
                <a:ea typeface="Inter"/>
                <a:cs typeface="Inter"/>
                <a:sym typeface="Inter"/>
              </a:rPr>
              <a:t>Voici le cœur de notre application : le Dashboard. Dès sa connexion, l'utilisateur visualise immédiatement ses 4 indicateurs clés : nombre de projets, de tâches, statut de réalisation et tâches en retard, ainsi que la progression globale.</a:t>
            </a:r>
            <a:endParaRPr/>
          </a:p>
        </p:txBody>
      </p:sp>
      <p:sp>
        <p:nvSpPr>
          <p:cNvPr id="225" name="Google Shape;225;p19"/>
          <p:cNvSpPr txBox="1"/>
          <p:nvPr/>
        </p:nvSpPr>
        <p:spPr>
          <a:xfrm>
            <a:off x="11620500" y="6538912"/>
            <a:ext cx="28575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Inter"/>
                <a:ea typeface="Inter"/>
                <a:cs typeface="Inter"/>
                <a:sym typeface="Inter"/>
              </a:rPr>
              <a:t>7 / 15</a:t>
            </a:r>
            <a:endParaRPr/>
          </a:p>
        </p:txBody>
      </p:sp>
      <p:sp>
        <p:nvSpPr>
          <p:cNvPr id="226" name="Google Shape;226;p19"/>
          <p:cNvSpPr txBox="1"/>
          <p:nvPr/>
        </p:nvSpPr>
        <p:spPr>
          <a:xfrm>
            <a:off x="523875" y="2264568"/>
            <a:ext cx="5675709"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F172A"/>
                </a:solidFill>
                <a:latin typeface="Plus Jakarta Sans"/>
                <a:ea typeface="Plus Jakarta Sans"/>
                <a:cs typeface="Plus Jakarta Sans"/>
                <a:sym typeface="Plus Jakarta Sans"/>
              </a:rPr>
              <a:t>Vue d'Ensemble Synthétique</a:t>
            </a:r>
            <a:endParaRPr/>
          </a:p>
        </p:txBody>
      </p:sp>
      <p:sp>
        <p:nvSpPr>
          <p:cNvPr id="227" name="Google Shape;227;p19"/>
          <p:cNvSpPr txBox="1"/>
          <p:nvPr/>
        </p:nvSpPr>
        <p:spPr>
          <a:xfrm>
            <a:off x="523875" y="2483643"/>
            <a:ext cx="54054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0" lang="en-US" sz="1275" u="none" cap="none" strike="noStrike">
                <a:solidFill>
                  <a:srgbClr val="334155"/>
                </a:solidFill>
                <a:latin typeface="Inter"/>
                <a:ea typeface="Inter"/>
                <a:cs typeface="Inter"/>
                <a:sym typeface="Inter"/>
              </a:rPr>
              <a:t>Le Dashboard constitue l'interface centrale de l'application post-connexion :</a:t>
            </a:r>
            <a:endParaRPr/>
          </a:p>
        </p:txBody>
      </p:sp>
      <p:sp>
        <p:nvSpPr>
          <p:cNvPr id="228" name="Google Shape;228;p19"/>
          <p:cNvSpPr txBox="1"/>
          <p:nvPr/>
        </p:nvSpPr>
        <p:spPr>
          <a:xfrm>
            <a:off x="790575" y="3083718"/>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Cartes KPI Dynamiques :</a:t>
            </a:r>
            <a:r>
              <a:rPr b="0" i="0" lang="en-US" sz="1275" u="none" cap="none" strike="noStrike">
                <a:solidFill>
                  <a:srgbClr val="334155"/>
                </a:solidFill>
                <a:latin typeface="Inter"/>
                <a:ea typeface="Inter"/>
                <a:cs typeface="Inter"/>
                <a:sym typeface="Inter"/>
              </a:rPr>
              <a:t> Nombre total de projets, tâches, tâches terminées et tâches en retard.</a:t>
            </a:r>
            <a:endParaRPr/>
          </a:p>
        </p:txBody>
      </p:sp>
      <p:sp>
        <p:nvSpPr>
          <p:cNvPr id="229" name="Google Shape;229;p19"/>
          <p:cNvSpPr txBox="1"/>
          <p:nvPr/>
        </p:nvSpPr>
        <p:spPr>
          <a:xfrm>
            <a:off x="790575" y="3683793"/>
            <a:ext cx="5138737" cy="242887"/>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Moteur de Recherche :</a:t>
            </a:r>
            <a:r>
              <a:rPr b="0" i="0" lang="en-US" sz="1275" u="none" cap="none" strike="noStrike">
                <a:solidFill>
                  <a:srgbClr val="334155"/>
                </a:solidFill>
                <a:latin typeface="Inter"/>
                <a:ea typeface="Inter"/>
                <a:cs typeface="Inter"/>
                <a:sym typeface="Inter"/>
              </a:rPr>
              <a:t> Filtrage rapide des projets par mots-clés.</a:t>
            </a:r>
            <a:endParaRPr/>
          </a:p>
        </p:txBody>
      </p:sp>
      <p:sp>
        <p:nvSpPr>
          <p:cNvPr id="230" name="Google Shape;230;p19"/>
          <p:cNvSpPr txBox="1"/>
          <p:nvPr/>
        </p:nvSpPr>
        <p:spPr>
          <a:xfrm>
            <a:off x="790575" y="4040981"/>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Projets Récents :</a:t>
            </a:r>
            <a:r>
              <a:rPr b="0" i="0" lang="en-US" sz="1275" u="none" cap="none" strike="noStrike">
                <a:solidFill>
                  <a:srgbClr val="334155"/>
                </a:solidFill>
                <a:latin typeface="Inter"/>
                <a:ea typeface="Inter"/>
                <a:cs typeface="Inter"/>
                <a:sym typeface="Inter"/>
              </a:rPr>
              <a:t> Visualisation synthétique des cartes de projet avec barre de progression.</a:t>
            </a:r>
            <a:endParaRPr/>
          </a:p>
        </p:txBody>
      </p:sp>
      <p:sp>
        <p:nvSpPr>
          <p:cNvPr id="231" name="Google Shape;231;p19"/>
          <p:cNvSpPr txBox="1"/>
          <p:nvPr/>
        </p:nvSpPr>
        <p:spPr>
          <a:xfrm>
            <a:off x="790575" y="4641056"/>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Ergonomie Réactive :</a:t>
            </a:r>
            <a:r>
              <a:rPr b="0" i="0" lang="en-US" sz="1275" u="none" cap="none" strike="noStrike">
                <a:solidFill>
                  <a:srgbClr val="334155"/>
                </a:solidFill>
                <a:latin typeface="Inter"/>
                <a:ea typeface="Inter"/>
                <a:cs typeface="Inter"/>
                <a:sym typeface="Inter"/>
              </a:rPr>
              <a:t> Message d'accueil personnalisé et boutons d'action rapide.</a:t>
            </a:r>
            <a:endParaRPr/>
          </a:p>
        </p:txBody>
      </p:sp>
      <p:sp>
        <p:nvSpPr>
          <p:cNvPr id="232" name="Google Shape;232;p19"/>
          <p:cNvSpPr txBox="1"/>
          <p:nvPr/>
        </p:nvSpPr>
        <p:spPr>
          <a:xfrm>
            <a:off x="523875" y="3083718"/>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233" name="Google Shape;233;p19"/>
          <p:cNvSpPr txBox="1"/>
          <p:nvPr/>
        </p:nvSpPr>
        <p:spPr>
          <a:xfrm>
            <a:off x="523875" y="3683793"/>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234" name="Google Shape;234;p19"/>
          <p:cNvSpPr txBox="1"/>
          <p:nvPr/>
        </p:nvSpPr>
        <p:spPr>
          <a:xfrm>
            <a:off x="523875" y="4040981"/>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235" name="Google Shape;235;p19"/>
          <p:cNvSpPr txBox="1"/>
          <p:nvPr/>
        </p:nvSpPr>
        <p:spPr>
          <a:xfrm>
            <a:off x="523875" y="4641056"/>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236" name="Google Shape;236;p19"/>
          <p:cNvSpPr txBox="1"/>
          <p:nvPr/>
        </p:nvSpPr>
        <p:spPr>
          <a:xfrm>
            <a:off x="904875" y="428625"/>
            <a:ext cx="11287125"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550" u="none" cap="none" strike="noStrike">
                <a:solidFill>
                  <a:srgbClr val="0F172A"/>
                </a:solidFill>
                <a:latin typeface="Plus Jakarta Sans ExtraBold"/>
                <a:ea typeface="Plus Jakarta Sans ExtraBold"/>
                <a:cs typeface="Plus Jakarta Sans ExtraBold"/>
                <a:sym typeface="Plus Jakarta Sans ExtraBold"/>
              </a:rPr>
              <a:t>Dashboard de Pilotage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 name="Shape 240"/>
        <p:cNvGrpSpPr/>
        <p:nvPr/>
      </p:nvGrpSpPr>
      <p:grpSpPr>
        <a:xfrm>
          <a:off x="0" y="0"/>
          <a:ext cx="0" cy="0"/>
          <a:chOff x="0" y="0"/>
          <a:chExt cx="0" cy="0"/>
        </a:xfrm>
      </p:grpSpPr>
      <p:pic>
        <p:nvPicPr>
          <p:cNvPr descr="image.png" id="241" name="Google Shape;241;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42" name="Google Shape;242;p20" title="Capture d’écran 2026-08-12 à 00.28.20.png"/>
          <p:cNvPicPr preferRelativeResize="0"/>
          <p:nvPr/>
        </p:nvPicPr>
        <p:blipFill rotWithShape="1">
          <a:blip r:embed="rId4">
            <a:alphaModFix/>
          </a:blip>
          <a:srcRect b="0" l="3332" r="3332" t="0"/>
          <a:stretch/>
        </p:blipFill>
        <p:spPr>
          <a:xfrm>
            <a:off x="6262687" y="1943100"/>
            <a:ext cx="5405437" cy="3619500"/>
          </a:xfrm>
          <a:prstGeom prst="rect">
            <a:avLst/>
          </a:prstGeom>
          <a:noFill/>
          <a:ln>
            <a:noFill/>
          </a:ln>
        </p:spPr>
      </p:pic>
      <p:pic>
        <p:nvPicPr>
          <p:cNvPr descr="image.png" id="243" name="Google Shape;243;p20"/>
          <p:cNvPicPr preferRelativeResize="0"/>
          <p:nvPr/>
        </p:nvPicPr>
        <p:blipFill rotWithShape="1">
          <a:blip r:embed="rId5">
            <a:alphaModFix/>
          </a:blip>
          <a:srcRect b="0" l="0" r="0" t="0"/>
          <a:stretch/>
        </p:blipFill>
        <p:spPr>
          <a:xfrm>
            <a:off x="0" y="6353175"/>
            <a:ext cx="12192000" cy="504825"/>
          </a:xfrm>
          <a:prstGeom prst="rect">
            <a:avLst/>
          </a:prstGeom>
          <a:noFill/>
          <a:ln>
            <a:noFill/>
          </a:ln>
        </p:spPr>
      </p:pic>
      <p:pic>
        <p:nvPicPr>
          <p:cNvPr descr="image.png" id="244" name="Google Shape;244;p20"/>
          <p:cNvPicPr preferRelativeResize="0"/>
          <p:nvPr/>
        </p:nvPicPr>
        <p:blipFill rotWithShape="1">
          <a:blip r:embed="rId6">
            <a:alphaModFix/>
          </a:blip>
          <a:srcRect b="0" l="0" r="0" t="0"/>
          <a:stretch/>
        </p:blipFill>
        <p:spPr>
          <a:xfrm>
            <a:off x="523875" y="500062"/>
            <a:ext cx="266700" cy="266700"/>
          </a:xfrm>
          <a:prstGeom prst="rect">
            <a:avLst/>
          </a:prstGeom>
          <a:noFill/>
          <a:ln>
            <a:noFill/>
          </a:ln>
        </p:spPr>
      </p:pic>
      <p:sp>
        <p:nvSpPr>
          <p:cNvPr id="245" name="Google Shape;245;p20"/>
          <p:cNvSpPr txBox="1"/>
          <p:nvPr/>
        </p:nvSpPr>
        <p:spPr>
          <a:xfrm>
            <a:off x="285750" y="6457950"/>
            <a:ext cx="9877425" cy="30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475569"/>
                </a:solidFill>
                <a:latin typeface="Inter"/>
                <a:ea typeface="Inter"/>
                <a:cs typeface="Inter"/>
                <a:sym typeface="Inter"/>
              </a:rPr>
              <a:t>La gestion des projets permet à l'utilisateur de structurer ses objectifs. Lors de la création d'un projet via ce formulaire simple, un conteneur est créé pour accueillir les différentes tâches associées avec un calcul d'avancement dynamique.</a:t>
            </a:r>
            <a:endParaRPr/>
          </a:p>
        </p:txBody>
      </p:sp>
      <p:sp>
        <p:nvSpPr>
          <p:cNvPr id="246" name="Google Shape;246;p20"/>
          <p:cNvSpPr txBox="1"/>
          <p:nvPr/>
        </p:nvSpPr>
        <p:spPr>
          <a:xfrm>
            <a:off x="11610975" y="6538912"/>
            <a:ext cx="2952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Inter"/>
                <a:ea typeface="Inter"/>
                <a:cs typeface="Inter"/>
                <a:sym typeface="Inter"/>
              </a:rPr>
              <a:t>8 / 15</a:t>
            </a:r>
            <a:endParaRPr/>
          </a:p>
        </p:txBody>
      </p:sp>
      <p:sp>
        <p:nvSpPr>
          <p:cNvPr id="247" name="Google Shape;247;p20"/>
          <p:cNvSpPr txBox="1"/>
          <p:nvPr/>
        </p:nvSpPr>
        <p:spPr>
          <a:xfrm>
            <a:off x="523875" y="2443162"/>
            <a:ext cx="5675709"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F172A"/>
                </a:solidFill>
                <a:latin typeface="Plus Jakarta Sans"/>
                <a:ea typeface="Plus Jakarta Sans"/>
                <a:cs typeface="Plus Jakarta Sans"/>
                <a:sym typeface="Plus Jakarta Sans"/>
              </a:rPr>
              <a:t>Création &amp; Suivi des Projets</a:t>
            </a:r>
            <a:endParaRPr/>
          </a:p>
        </p:txBody>
      </p:sp>
      <p:sp>
        <p:nvSpPr>
          <p:cNvPr id="248" name="Google Shape;248;p20"/>
          <p:cNvSpPr txBox="1"/>
          <p:nvPr/>
        </p:nvSpPr>
        <p:spPr>
          <a:xfrm>
            <a:off x="790575" y="2662237"/>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Création Simplifiée :</a:t>
            </a:r>
            <a:r>
              <a:rPr b="0" i="0" lang="en-US" sz="1275" u="none" cap="none" strike="noStrike">
                <a:solidFill>
                  <a:srgbClr val="334155"/>
                </a:solidFill>
                <a:latin typeface="Inter"/>
                <a:ea typeface="Inter"/>
                <a:cs typeface="Inter"/>
                <a:sym typeface="Inter"/>
              </a:rPr>
              <a:t> Formulaire épuré pour définir le nom et la description du projet.</a:t>
            </a:r>
            <a:endParaRPr/>
          </a:p>
        </p:txBody>
      </p:sp>
      <p:sp>
        <p:nvSpPr>
          <p:cNvPr id="249" name="Google Shape;249;p20"/>
          <p:cNvSpPr txBox="1"/>
          <p:nvPr/>
        </p:nvSpPr>
        <p:spPr>
          <a:xfrm>
            <a:off x="790575" y="3262312"/>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Association des Tâches :</a:t>
            </a:r>
            <a:r>
              <a:rPr b="0" i="0" lang="en-US" sz="1275" u="none" cap="none" strike="noStrike">
                <a:solidFill>
                  <a:srgbClr val="334155"/>
                </a:solidFill>
                <a:latin typeface="Inter"/>
                <a:ea typeface="Inter"/>
                <a:cs typeface="Inter"/>
                <a:sym typeface="Inter"/>
              </a:rPr>
              <a:t> Regroupement logique de l'ensemble des tâches par entité projet.</a:t>
            </a:r>
            <a:endParaRPr/>
          </a:p>
        </p:txBody>
      </p:sp>
      <p:sp>
        <p:nvSpPr>
          <p:cNvPr id="250" name="Google Shape;250;p20"/>
          <p:cNvSpPr txBox="1"/>
          <p:nvPr/>
        </p:nvSpPr>
        <p:spPr>
          <a:xfrm>
            <a:off x="790575" y="3862387"/>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Progression Automatisée :</a:t>
            </a:r>
            <a:r>
              <a:rPr b="0" i="0" lang="en-US" sz="1275" u="none" cap="none" strike="noStrike">
                <a:solidFill>
                  <a:srgbClr val="334155"/>
                </a:solidFill>
                <a:latin typeface="Inter"/>
                <a:ea typeface="Inter"/>
                <a:cs typeface="Inter"/>
                <a:sym typeface="Inter"/>
              </a:rPr>
              <a:t> Calcul dynamique du pourcentage d'avancement basé sur le ratio de tâches exécutées.</a:t>
            </a:r>
            <a:endParaRPr/>
          </a:p>
        </p:txBody>
      </p:sp>
      <p:sp>
        <p:nvSpPr>
          <p:cNvPr id="251" name="Google Shape;251;p20"/>
          <p:cNvSpPr txBox="1"/>
          <p:nvPr/>
        </p:nvSpPr>
        <p:spPr>
          <a:xfrm>
            <a:off x="790575" y="4462462"/>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Gestion du Statut :</a:t>
            </a:r>
            <a:r>
              <a:rPr b="0" i="0" lang="en-US" sz="1275" u="none" cap="none" strike="noStrike">
                <a:solidFill>
                  <a:srgbClr val="334155"/>
                </a:solidFill>
                <a:latin typeface="Inter"/>
                <a:ea typeface="Inter"/>
                <a:cs typeface="Inter"/>
                <a:sym typeface="Inter"/>
              </a:rPr>
              <a:t> Indication visuelle claire (ex: "Pas commencé", "En cours", "Terminé").</a:t>
            </a:r>
            <a:endParaRPr/>
          </a:p>
        </p:txBody>
      </p:sp>
      <p:sp>
        <p:nvSpPr>
          <p:cNvPr id="252" name="Google Shape;252;p20"/>
          <p:cNvSpPr txBox="1"/>
          <p:nvPr/>
        </p:nvSpPr>
        <p:spPr>
          <a:xfrm>
            <a:off x="523875" y="2662237"/>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253" name="Google Shape;253;p20"/>
          <p:cNvSpPr txBox="1"/>
          <p:nvPr/>
        </p:nvSpPr>
        <p:spPr>
          <a:xfrm>
            <a:off x="523875" y="3262312"/>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254" name="Google Shape;254;p20"/>
          <p:cNvSpPr txBox="1"/>
          <p:nvPr/>
        </p:nvSpPr>
        <p:spPr>
          <a:xfrm>
            <a:off x="523875" y="3862387"/>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255" name="Google Shape;255;p20"/>
          <p:cNvSpPr txBox="1"/>
          <p:nvPr/>
        </p:nvSpPr>
        <p:spPr>
          <a:xfrm>
            <a:off x="523875" y="4462462"/>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256" name="Google Shape;256;p20"/>
          <p:cNvSpPr txBox="1"/>
          <p:nvPr/>
        </p:nvSpPr>
        <p:spPr>
          <a:xfrm>
            <a:off x="904875" y="428625"/>
            <a:ext cx="11287125"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550" u="none" cap="none" strike="noStrike">
                <a:solidFill>
                  <a:srgbClr val="0F172A"/>
                </a:solidFill>
                <a:latin typeface="Plus Jakarta Sans ExtraBold"/>
                <a:ea typeface="Plus Jakarta Sans ExtraBold"/>
                <a:cs typeface="Plus Jakarta Sans ExtraBold"/>
                <a:sym typeface="Plus Jakarta Sans ExtraBold"/>
              </a:rPr>
              <a:t>Gestion des Projets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 name="Shape 260"/>
        <p:cNvGrpSpPr/>
        <p:nvPr/>
      </p:nvGrpSpPr>
      <p:grpSpPr>
        <a:xfrm>
          <a:off x="0" y="0"/>
          <a:ext cx="0" cy="0"/>
          <a:chOff x="0" y="0"/>
          <a:chExt cx="0" cy="0"/>
        </a:xfrm>
      </p:grpSpPr>
      <p:pic>
        <p:nvPicPr>
          <p:cNvPr descr="image.png" id="261" name="Google Shape;261;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62" name="Google Shape;262;p21" title="Capture d’écran 2026-08-12 à 00.32.09.png"/>
          <p:cNvPicPr preferRelativeResize="0"/>
          <p:nvPr/>
        </p:nvPicPr>
        <p:blipFill rotWithShape="1">
          <a:blip r:embed="rId4">
            <a:alphaModFix/>
          </a:blip>
          <a:srcRect b="0" l="3332" r="3332" t="0"/>
          <a:stretch/>
        </p:blipFill>
        <p:spPr>
          <a:xfrm>
            <a:off x="6262687" y="1943100"/>
            <a:ext cx="5405437" cy="3619500"/>
          </a:xfrm>
          <a:prstGeom prst="rect">
            <a:avLst/>
          </a:prstGeom>
          <a:noFill/>
          <a:ln>
            <a:noFill/>
          </a:ln>
        </p:spPr>
      </p:pic>
      <p:pic>
        <p:nvPicPr>
          <p:cNvPr descr="image.png" id="263" name="Google Shape;263;p21"/>
          <p:cNvPicPr preferRelativeResize="0"/>
          <p:nvPr/>
        </p:nvPicPr>
        <p:blipFill rotWithShape="1">
          <a:blip r:embed="rId5">
            <a:alphaModFix/>
          </a:blip>
          <a:srcRect b="0" l="0" r="0" t="0"/>
          <a:stretch/>
        </p:blipFill>
        <p:spPr>
          <a:xfrm>
            <a:off x="0" y="6353175"/>
            <a:ext cx="12192000" cy="504825"/>
          </a:xfrm>
          <a:prstGeom prst="rect">
            <a:avLst/>
          </a:prstGeom>
          <a:noFill/>
          <a:ln>
            <a:noFill/>
          </a:ln>
        </p:spPr>
      </p:pic>
      <p:pic>
        <p:nvPicPr>
          <p:cNvPr descr="image.png" id="264" name="Google Shape;264;p21"/>
          <p:cNvPicPr preferRelativeResize="0"/>
          <p:nvPr/>
        </p:nvPicPr>
        <p:blipFill rotWithShape="1">
          <a:blip r:embed="rId6">
            <a:alphaModFix/>
          </a:blip>
          <a:srcRect b="0" l="0" r="0" t="0"/>
          <a:stretch/>
        </p:blipFill>
        <p:spPr>
          <a:xfrm>
            <a:off x="523875" y="500062"/>
            <a:ext cx="266700" cy="266700"/>
          </a:xfrm>
          <a:prstGeom prst="rect">
            <a:avLst/>
          </a:prstGeom>
          <a:noFill/>
          <a:ln>
            <a:noFill/>
          </a:ln>
        </p:spPr>
      </p:pic>
      <p:sp>
        <p:nvSpPr>
          <p:cNvPr id="265" name="Google Shape;265;p21"/>
          <p:cNvSpPr txBox="1"/>
          <p:nvPr/>
        </p:nvSpPr>
        <p:spPr>
          <a:xfrm>
            <a:off x="285750" y="6457950"/>
            <a:ext cx="9877425" cy="30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475569"/>
                </a:solidFill>
                <a:latin typeface="Inter"/>
                <a:ea typeface="Inter"/>
                <a:cs typeface="Inter"/>
                <a:sym typeface="Inter"/>
              </a:rPr>
              <a:t>Chaque projet contient ses propres tâches. Comme le montre cette capture, l'utilisateur définit le titre, la description, le degré de priorité ainsi que la date limite, permettant à l'application d'alerter automatiquement en cas de dépassement de délai.</a:t>
            </a:r>
            <a:endParaRPr/>
          </a:p>
        </p:txBody>
      </p:sp>
      <p:sp>
        <p:nvSpPr>
          <p:cNvPr id="266" name="Google Shape;266;p21"/>
          <p:cNvSpPr txBox="1"/>
          <p:nvPr/>
        </p:nvSpPr>
        <p:spPr>
          <a:xfrm>
            <a:off x="11610975" y="6538912"/>
            <a:ext cx="2952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Inter"/>
                <a:ea typeface="Inter"/>
                <a:cs typeface="Inter"/>
                <a:sym typeface="Inter"/>
              </a:rPr>
              <a:t>9 / 15</a:t>
            </a:r>
            <a:endParaRPr/>
          </a:p>
        </p:txBody>
      </p:sp>
      <p:sp>
        <p:nvSpPr>
          <p:cNvPr id="267" name="Google Shape;267;p21"/>
          <p:cNvSpPr txBox="1"/>
          <p:nvPr/>
        </p:nvSpPr>
        <p:spPr>
          <a:xfrm>
            <a:off x="523875" y="2443162"/>
            <a:ext cx="5675709"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F172A"/>
                </a:solidFill>
                <a:latin typeface="Plus Jakarta Sans"/>
                <a:ea typeface="Plus Jakarta Sans"/>
                <a:cs typeface="Plus Jakarta Sans"/>
                <a:sym typeface="Plus Jakarta Sans"/>
              </a:rPr>
              <a:t>Attribution &amp; Attributs Détaillés</a:t>
            </a:r>
            <a:endParaRPr/>
          </a:p>
        </p:txBody>
      </p:sp>
      <p:sp>
        <p:nvSpPr>
          <p:cNvPr id="268" name="Google Shape;268;p21"/>
          <p:cNvSpPr txBox="1"/>
          <p:nvPr/>
        </p:nvSpPr>
        <p:spPr>
          <a:xfrm>
            <a:off x="790575" y="2662237"/>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Priorités Déléguées :</a:t>
            </a:r>
            <a:r>
              <a:rPr b="0" i="0" lang="en-US" sz="1275" u="none" cap="none" strike="noStrike">
                <a:solidFill>
                  <a:srgbClr val="334155"/>
                </a:solidFill>
                <a:latin typeface="Inter"/>
                <a:ea typeface="Inter"/>
                <a:cs typeface="Inter"/>
                <a:sym typeface="Inter"/>
              </a:rPr>
              <a:t> Classification par niveau d'urgence (Haute, Moyenne, Basse).</a:t>
            </a:r>
            <a:endParaRPr/>
          </a:p>
        </p:txBody>
      </p:sp>
      <p:sp>
        <p:nvSpPr>
          <p:cNvPr id="269" name="Google Shape;269;p21"/>
          <p:cNvSpPr txBox="1"/>
          <p:nvPr/>
        </p:nvSpPr>
        <p:spPr>
          <a:xfrm>
            <a:off x="790575" y="3262312"/>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Gestion des Délais (Deadlines) :</a:t>
            </a:r>
            <a:r>
              <a:rPr b="0" i="0" lang="en-US" sz="1275" u="none" cap="none" strike="noStrike">
                <a:solidFill>
                  <a:srgbClr val="334155"/>
                </a:solidFill>
                <a:latin typeface="Inter"/>
                <a:ea typeface="Inter"/>
                <a:cs typeface="Inter"/>
                <a:sym typeface="Inter"/>
              </a:rPr>
              <a:t> Calendrier d'échéance et détection automatique des retards.</a:t>
            </a:r>
            <a:endParaRPr/>
          </a:p>
        </p:txBody>
      </p:sp>
      <p:sp>
        <p:nvSpPr>
          <p:cNvPr id="270" name="Google Shape;270;p21"/>
          <p:cNvSpPr txBox="1"/>
          <p:nvPr/>
        </p:nvSpPr>
        <p:spPr>
          <a:xfrm>
            <a:off x="790575" y="3862387"/>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Actions CRUD Complètes :</a:t>
            </a:r>
            <a:r>
              <a:rPr b="0" i="0" lang="en-US" sz="1275" u="none" cap="none" strike="noStrike">
                <a:solidFill>
                  <a:srgbClr val="334155"/>
                </a:solidFill>
                <a:latin typeface="Inter"/>
                <a:ea typeface="Inter"/>
                <a:cs typeface="Inter"/>
                <a:sym typeface="Inter"/>
              </a:rPr>
              <a:t> Ajout, modification, suppression et marquage "Terminé".</a:t>
            </a:r>
            <a:endParaRPr/>
          </a:p>
        </p:txBody>
      </p:sp>
      <p:sp>
        <p:nvSpPr>
          <p:cNvPr id="271" name="Google Shape;271;p21"/>
          <p:cNvSpPr txBox="1"/>
          <p:nvPr/>
        </p:nvSpPr>
        <p:spPr>
          <a:xfrm>
            <a:off x="790575" y="4462462"/>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Inclusion au Projet :</a:t>
            </a:r>
            <a:r>
              <a:rPr b="0" i="0" lang="en-US" sz="1275" u="none" cap="none" strike="noStrike">
                <a:solidFill>
                  <a:srgbClr val="334155"/>
                </a:solidFill>
                <a:latin typeface="Inter"/>
                <a:ea typeface="Inter"/>
                <a:cs typeface="Inter"/>
                <a:sym typeface="Inter"/>
              </a:rPr>
              <a:t> Rattachement direct de la tâche au projet parent.</a:t>
            </a:r>
            <a:endParaRPr/>
          </a:p>
        </p:txBody>
      </p:sp>
      <p:sp>
        <p:nvSpPr>
          <p:cNvPr id="272" name="Google Shape;272;p21"/>
          <p:cNvSpPr txBox="1"/>
          <p:nvPr/>
        </p:nvSpPr>
        <p:spPr>
          <a:xfrm>
            <a:off x="523875" y="2662237"/>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273" name="Google Shape;273;p21"/>
          <p:cNvSpPr txBox="1"/>
          <p:nvPr/>
        </p:nvSpPr>
        <p:spPr>
          <a:xfrm>
            <a:off x="523875" y="3262312"/>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274" name="Google Shape;274;p21"/>
          <p:cNvSpPr txBox="1"/>
          <p:nvPr/>
        </p:nvSpPr>
        <p:spPr>
          <a:xfrm>
            <a:off x="523875" y="3862387"/>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275" name="Google Shape;275;p21"/>
          <p:cNvSpPr txBox="1"/>
          <p:nvPr/>
        </p:nvSpPr>
        <p:spPr>
          <a:xfrm>
            <a:off x="523875" y="4462462"/>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276" name="Google Shape;276;p21"/>
          <p:cNvSpPr txBox="1"/>
          <p:nvPr/>
        </p:nvSpPr>
        <p:spPr>
          <a:xfrm>
            <a:off x="904875" y="428625"/>
            <a:ext cx="11287125"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550" u="none" cap="none" strike="noStrike">
                <a:solidFill>
                  <a:srgbClr val="0F172A"/>
                </a:solidFill>
                <a:latin typeface="Plus Jakarta Sans ExtraBold"/>
                <a:ea typeface="Plus Jakarta Sans ExtraBold"/>
                <a:cs typeface="Plus Jakarta Sans ExtraBold"/>
                <a:sym typeface="Plus Jakarta Sans ExtraBold"/>
              </a:rPr>
              <a:t>Gestion des Tâches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pic>
        <p:nvPicPr>
          <p:cNvPr descr="image.png" id="281" name="Google Shape;281;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82" name="Google Shape;282;p22"/>
          <p:cNvPicPr preferRelativeResize="0"/>
          <p:nvPr/>
        </p:nvPicPr>
        <p:blipFill rotWithShape="1">
          <a:blip r:embed="rId4">
            <a:alphaModFix/>
          </a:blip>
          <a:srcRect b="0" l="0" r="0" t="0"/>
          <a:stretch/>
        </p:blipFill>
        <p:spPr>
          <a:xfrm>
            <a:off x="523875" y="2366962"/>
            <a:ext cx="5405437" cy="2771775"/>
          </a:xfrm>
          <a:prstGeom prst="rect">
            <a:avLst/>
          </a:prstGeom>
          <a:noFill/>
          <a:ln>
            <a:noFill/>
          </a:ln>
        </p:spPr>
      </p:pic>
      <p:pic>
        <p:nvPicPr>
          <p:cNvPr descr="image.png" id="283" name="Google Shape;283;p22"/>
          <p:cNvPicPr preferRelativeResize="0"/>
          <p:nvPr/>
        </p:nvPicPr>
        <p:blipFill rotWithShape="1">
          <a:blip r:embed="rId5">
            <a:alphaModFix/>
          </a:blip>
          <a:srcRect b="0" l="0" r="0" t="0"/>
          <a:stretch/>
        </p:blipFill>
        <p:spPr>
          <a:xfrm>
            <a:off x="6262687" y="2366962"/>
            <a:ext cx="5405437" cy="2771775"/>
          </a:xfrm>
          <a:prstGeom prst="rect">
            <a:avLst/>
          </a:prstGeom>
          <a:noFill/>
          <a:ln>
            <a:noFill/>
          </a:ln>
        </p:spPr>
      </p:pic>
      <p:pic>
        <p:nvPicPr>
          <p:cNvPr descr="image.png" id="284" name="Google Shape;284;p22"/>
          <p:cNvPicPr preferRelativeResize="0"/>
          <p:nvPr/>
        </p:nvPicPr>
        <p:blipFill rotWithShape="1">
          <a:blip r:embed="rId6">
            <a:alphaModFix/>
          </a:blip>
          <a:srcRect b="0" l="0" r="0" t="0"/>
          <a:stretch/>
        </p:blipFill>
        <p:spPr>
          <a:xfrm>
            <a:off x="0" y="6353175"/>
            <a:ext cx="12192000" cy="504825"/>
          </a:xfrm>
          <a:prstGeom prst="rect">
            <a:avLst/>
          </a:prstGeom>
          <a:noFill/>
          <a:ln>
            <a:noFill/>
          </a:ln>
        </p:spPr>
      </p:pic>
      <p:pic>
        <p:nvPicPr>
          <p:cNvPr descr="image.png" id="285" name="Google Shape;285;p22"/>
          <p:cNvPicPr preferRelativeResize="0"/>
          <p:nvPr/>
        </p:nvPicPr>
        <p:blipFill rotWithShape="1">
          <a:blip r:embed="rId7">
            <a:alphaModFix/>
          </a:blip>
          <a:srcRect b="0" l="0" r="0" t="0"/>
          <a:stretch/>
        </p:blipFill>
        <p:spPr>
          <a:xfrm>
            <a:off x="523875" y="500062"/>
            <a:ext cx="304800" cy="266700"/>
          </a:xfrm>
          <a:prstGeom prst="rect">
            <a:avLst/>
          </a:prstGeom>
          <a:noFill/>
          <a:ln>
            <a:noFill/>
          </a:ln>
        </p:spPr>
      </p:pic>
      <p:sp>
        <p:nvSpPr>
          <p:cNvPr id="286" name="Google Shape;286;p22"/>
          <p:cNvSpPr txBox="1"/>
          <p:nvPr/>
        </p:nvSpPr>
        <p:spPr>
          <a:xfrm>
            <a:off x="285750" y="6457950"/>
            <a:ext cx="9877425" cy="30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475569"/>
                </a:solidFill>
                <a:latin typeface="Inter"/>
                <a:ea typeface="Inter"/>
                <a:cs typeface="Inter"/>
                <a:sym typeface="Inter"/>
              </a:rPr>
              <a:t>L'interface utilisateur a été pensée pour être propre et moderne. L'association de Bootstrap 5 et d'une sidebar latérale offre une navigation très rapide tout en s'adaptant parfaitement aux écrans mobiles.</a:t>
            </a:r>
            <a:endParaRPr/>
          </a:p>
        </p:txBody>
      </p:sp>
      <p:sp>
        <p:nvSpPr>
          <p:cNvPr id="287" name="Google Shape;287;p22"/>
          <p:cNvSpPr txBox="1"/>
          <p:nvPr/>
        </p:nvSpPr>
        <p:spPr>
          <a:xfrm>
            <a:off x="11563350" y="6538912"/>
            <a:ext cx="3429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Inter"/>
                <a:ea typeface="Inter"/>
                <a:cs typeface="Inter"/>
                <a:sym typeface="Inter"/>
              </a:rPr>
              <a:t>10 / 15</a:t>
            </a:r>
            <a:endParaRPr/>
          </a:p>
        </p:txBody>
      </p:sp>
      <p:sp>
        <p:nvSpPr>
          <p:cNvPr id="288" name="Google Shape;288;p22"/>
          <p:cNvSpPr txBox="1"/>
          <p:nvPr/>
        </p:nvSpPr>
        <p:spPr>
          <a:xfrm>
            <a:off x="819150" y="2662237"/>
            <a:ext cx="5055631" cy="266700"/>
          </a:xfrm>
          <a:prstGeom prst="rect">
            <a:avLst/>
          </a:prstGeom>
          <a:noFill/>
          <a:ln>
            <a:noFill/>
          </a:ln>
        </p:spPr>
        <p:txBody>
          <a:bodyPr anchorCtr="0" anchor="t" bIns="0" lIns="209550" spcFirstLastPara="1" rIns="0" wrap="square" tIns="0">
            <a:spAutoFit/>
          </a:bodyPr>
          <a:lstStyle/>
          <a:p>
            <a:pPr indent="0" lvl="0" marL="0" marR="0" rtl="0" algn="l">
              <a:spcBef>
                <a:spcPts val="0"/>
              </a:spcBef>
              <a:spcAft>
                <a:spcPts val="0"/>
              </a:spcAft>
              <a:buNone/>
            </a:pPr>
            <a:r>
              <a:rPr b="1" i="0" lang="en-US" sz="1650" u="none" cap="none" strike="noStrike">
                <a:solidFill>
                  <a:srgbClr val="0284C7"/>
                </a:solidFill>
                <a:latin typeface="Plus Jakarta Sans"/>
                <a:ea typeface="Plus Jakarta Sans"/>
                <a:cs typeface="Plus Jakarta Sans"/>
                <a:sym typeface="Plus Jakarta Sans"/>
              </a:rPr>
              <a:t>Principes de Design</a:t>
            </a:r>
            <a:endParaRPr/>
          </a:p>
        </p:txBody>
      </p:sp>
      <p:sp>
        <p:nvSpPr>
          <p:cNvPr id="289" name="Google Shape;289;p22"/>
          <p:cNvSpPr txBox="1"/>
          <p:nvPr/>
        </p:nvSpPr>
        <p:spPr>
          <a:xfrm>
            <a:off x="6557962" y="2662237"/>
            <a:ext cx="5055631" cy="266700"/>
          </a:xfrm>
          <a:prstGeom prst="rect">
            <a:avLst/>
          </a:prstGeom>
          <a:noFill/>
          <a:ln>
            <a:noFill/>
          </a:ln>
        </p:spPr>
        <p:txBody>
          <a:bodyPr anchorCtr="0" anchor="t" bIns="0" lIns="161925" spcFirstLastPara="1" rIns="0" wrap="square" tIns="0">
            <a:spAutoFit/>
          </a:bodyPr>
          <a:lstStyle/>
          <a:p>
            <a:pPr indent="0" lvl="0" marL="0" marR="0" rtl="0" algn="l">
              <a:spcBef>
                <a:spcPts val="0"/>
              </a:spcBef>
              <a:spcAft>
                <a:spcPts val="0"/>
              </a:spcAft>
              <a:buNone/>
            </a:pPr>
            <a:r>
              <a:rPr b="1" i="0" lang="en-US" sz="1650" u="none" cap="none" strike="noStrike">
                <a:solidFill>
                  <a:srgbClr val="0284C7"/>
                </a:solidFill>
                <a:latin typeface="Plus Jakarta Sans"/>
                <a:ea typeface="Plus Jakarta Sans"/>
                <a:cs typeface="Plus Jakarta Sans"/>
                <a:sym typeface="Plus Jakarta Sans"/>
              </a:rPr>
              <a:t>Ergonomie &amp; Responsivité</a:t>
            </a:r>
            <a:endParaRPr/>
          </a:p>
        </p:txBody>
      </p:sp>
      <p:pic>
        <p:nvPicPr>
          <p:cNvPr descr="image.png" id="290" name="Google Shape;290;p22"/>
          <p:cNvPicPr preferRelativeResize="0"/>
          <p:nvPr/>
        </p:nvPicPr>
        <p:blipFill rotWithShape="1">
          <a:blip r:embed="rId8">
            <a:alphaModFix/>
          </a:blip>
          <a:srcRect b="0" l="0" r="0" t="0"/>
          <a:stretch/>
        </p:blipFill>
        <p:spPr>
          <a:xfrm>
            <a:off x="819150" y="2700337"/>
            <a:ext cx="209550" cy="209550"/>
          </a:xfrm>
          <a:prstGeom prst="rect">
            <a:avLst/>
          </a:prstGeom>
          <a:noFill/>
          <a:ln>
            <a:noFill/>
          </a:ln>
        </p:spPr>
      </p:pic>
      <p:sp>
        <p:nvSpPr>
          <p:cNvPr id="291" name="Google Shape;291;p22"/>
          <p:cNvSpPr txBox="1"/>
          <p:nvPr/>
        </p:nvSpPr>
        <p:spPr>
          <a:xfrm>
            <a:off x="1085850" y="3043237"/>
            <a:ext cx="454818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Sidebar Persistante :</a:t>
            </a:r>
            <a:r>
              <a:rPr b="0" i="0" lang="en-US" sz="1275" u="none" cap="none" strike="noStrike">
                <a:solidFill>
                  <a:srgbClr val="334155"/>
                </a:solidFill>
                <a:latin typeface="Inter"/>
                <a:ea typeface="Inter"/>
                <a:cs typeface="Inter"/>
                <a:sym typeface="Inter"/>
              </a:rPr>
              <a:t> Navigation fluide entre Dashboard, Nouveau Projet et Déconnexion.</a:t>
            </a:r>
            <a:endParaRPr/>
          </a:p>
        </p:txBody>
      </p:sp>
      <p:sp>
        <p:nvSpPr>
          <p:cNvPr id="292" name="Google Shape;292;p22"/>
          <p:cNvSpPr txBox="1"/>
          <p:nvPr/>
        </p:nvSpPr>
        <p:spPr>
          <a:xfrm>
            <a:off x="1085850" y="3643312"/>
            <a:ext cx="454818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Composants Bootstrap 5 :</a:t>
            </a:r>
            <a:r>
              <a:rPr b="0" i="0" lang="en-US" sz="1275" u="none" cap="none" strike="noStrike">
                <a:solidFill>
                  <a:srgbClr val="334155"/>
                </a:solidFill>
                <a:latin typeface="Inter"/>
                <a:ea typeface="Inter"/>
                <a:cs typeface="Inter"/>
                <a:sym typeface="Inter"/>
              </a:rPr>
              <a:t> Cartes statistiques ombrées, modales et barres de progression.</a:t>
            </a:r>
            <a:endParaRPr/>
          </a:p>
        </p:txBody>
      </p:sp>
      <p:sp>
        <p:nvSpPr>
          <p:cNvPr id="293" name="Google Shape;293;p22"/>
          <p:cNvSpPr txBox="1"/>
          <p:nvPr/>
        </p:nvSpPr>
        <p:spPr>
          <a:xfrm>
            <a:off x="1085850" y="4243387"/>
            <a:ext cx="454818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Iconographie Bootstrap Icons :</a:t>
            </a:r>
            <a:r>
              <a:rPr b="0" i="0" lang="en-US" sz="1275" u="none" cap="none" strike="noStrike">
                <a:solidFill>
                  <a:srgbClr val="334155"/>
                </a:solidFill>
                <a:latin typeface="Inter"/>
                <a:ea typeface="Inter"/>
                <a:cs typeface="Inter"/>
                <a:sym typeface="Inter"/>
              </a:rPr>
              <a:t> Repères visuels intuitifs pour chaque action.</a:t>
            </a:r>
            <a:endParaRPr/>
          </a:p>
        </p:txBody>
      </p:sp>
      <p:pic>
        <p:nvPicPr>
          <p:cNvPr descr="image.png" id="294" name="Google Shape;294;p22"/>
          <p:cNvPicPr preferRelativeResize="0"/>
          <p:nvPr/>
        </p:nvPicPr>
        <p:blipFill rotWithShape="1">
          <a:blip r:embed="rId9">
            <a:alphaModFix/>
          </a:blip>
          <a:srcRect b="0" l="0" r="0" t="0"/>
          <a:stretch/>
        </p:blipFill>
        <p:spPr>
          <a:xfrm>
            <a:off x="6557962" y="2700337"/>
            <a:ext cx="161925" cy="209550"/>
          </a:xfrm>
          <a:prstGeom prst="rect">
            <a:avLst/>
          </a:prstGeom>
          <a:noFill/>
          <a:ln>
            <a:noFill/>
          </a:ln>
        </p:spPr>
      </p:pic>
      <p:sp>
        <p:nvSpPr>
          <p:cNvPr id="295" name="Google Shape;295;p22"/>
          <p:cNvSpPr txBox="1"/>
          <p:nvPr/>
        </p:nvSpPr>
        <p:spPr>
          <a:xfrm>
            <a:off x="6824662" y="3043237"/>
            <a:ext cx="454818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Adaptabilité Multi-Écrans :</a:t>
            </a:r>
            <a:r>
              <a:rPr b="0" i="0" lang="en-US" sz="1275" u="none" cap="none" strike="noStrike">
                <a:solidFill>
                  <a:srgbClr val="334155"/>
                </a:solidFill>
                <a:latin typeface="Inter"/>
                <a:ea typeface="Inter"/>
                <a:cs typeface="Inter"/>
                <a:sym typeface="Inter"/>
              </a:rPr>
              <a:t> Affichage optimisé sur ordinateurs, tablettes et mobiles.</a:t>
            </a:r>
            <a:endParaRPr/>
          </a:p>
        </p:txBody>
      </p:sp>
      <p:sp>
        <p:nvSpPr>
          <p:cNvPr id="296" name="Google Shape;296;p22"/>
          <p:cNvSpPr txBox="1"/>
          <p:nvPr/>
        </p:nvSpPr>
        <p:spPr>
          <a:xfrm>
            <a:off x="6824662" y="3643312"/>
            <a:ext cx="454818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Retours Visuels Unifiés :</a:t>
            </a:r>
            <a:r>
              <a:rPr b="0" i="0" lang="en-US" sz="1275" u="none" cap="none" strike="noStrike">
                <a:solidFill>
                  <a:srgbClr val="334155"/>
                </a:solidFill>
                <a:latin typeface="Inter"/>
                <a:ea typeface="Inter"/>
                <a:cs typeface="Inter"/>
                <a:sym typeface="Inter"/>
              </a:rPr>
              <a:t> Badges de couleurs (Rouge = En retard, Vert = Terminé, Bleu = En cours).</a:t>
            </a:r>
            <a:endParaRPr/>
          </a:p>
        </p:txBody>
      </p:sp>
      <p:sp>
        <p:nvSpPr>
          <p:cNvPr id="297" name="Google Shape;297;p22"/>
          <p:cNvSpPr txBox="1"/>
          <p:nvPr/>
        </p:nvSpPr>
        <p:spPr>
          <a:xfrm>
            <a:off x="6824662" y="4243387"/>
            <a:ext cx="454818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Clarté Visuelle :</a:t>
            </a:r>
            <a:r>
              <a:rPr b="0" i="0" lang="en-US" sz="1275" u="none" cap="none" strike="noStrike">
                <a:solidFill>
                  <a:srgbClr val="334155"/>
                </a:solidFill>
                <a:latin typeface="Inter"/>
                <a:ea typeface="Inter"/>
                <a:cs typeface="Inter"/>
                <a:sym typeface="Inter"/>
              </a:rPr>
              <a:t> Typographie lisible réduisant la fatigue visuelle lors de l'utilisation.</a:t>
            </a:r>
            <a:endParaRPr/>
          </a:p>
        </p:txBody>
      </p:sp>
      <p:sp>
        <p:nvSpPr>
          <p:cNvPr id="298" name="Google Shape;298;p22"/>
          <p:cNvSpPr txBox="1"/>
          <p:nvPr/>
        </p:nvSpPr>
        <p:spPr>
          <a:xfrm>
            <a:off x="819150" y="3043237"/>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299" name="Google Shape;299;p22"/>
          <p:cNvSpPr txBox="1"/>
          <p:nvPr/>
        </p:nvSpPr>
        <p:spPr>
          <a:xfrm>
            <a:off x="819150" y="3643312"/>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300" name="Google Shape;300;p22"/>
          <p:cNvSpPr txBox="1"/>
          <p:nvPr/>
        </p:nvSpPr>
        <p:spPr>
          <a:xfrm>
            <a:off x="819150" y="4243387"/>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301" name="Google Shape;301;p22"/>
          <p:cNvSpPr txBox="1"/>
          <p:nvPr/>
        </p:nvSpPr>
        <p:spPr>
          <a:xfrm>
            <a:off x="6557962" y="3043237"/>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302" name="Google Shape;302;p22"/>
          <p:cNvSpPr txBox="1"/>
          <p:nvPr/>
        </p:nvSpPr>
        <p:spPr>
          <a:xfrm>
            <a:off x="6557962" y="3643312"/>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303" name="Google Shape;303;p22"/>
          <p:cNvSpPr txBox="1"/>
          <p:nvPr/>
        </p:nvSpPr>
        <p:spPr>
          <a:xfrm>
            <a:off x="6557962" y="4243387"/>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304" name="Google Shape;304;p22"/>
          <p:cNvSpPr txBox="1"/>
          <p:nvPr/>
        </p:nvSpPr>
        <p:spPr>
          <a:xfrm>
            <a:off x="942975" y="428625"/>
            <a:ext cx="11249025"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550" u="none" cap="none" strike="noStrike">
                <a:solidFill>
                  <a:srgbClr val="0F172A"/>
                </a:solidFill>
                <a:latin typeface="Plus Jakarta Sans ExtraBold"/>
                <a:ea typeface="Plus Jakarta Sans ExtraBold"/>
                <a:cs typeface="Plus Jakarta Sans ExtraBold"/>
                <a:sym typeface="Plus Jakarta Sans ExtraBold"/>
              </a:rPr>
              <a:t>Interface Utilisateur (UI/UX)</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8" name="Shape 308"/>
        <p:cNvGrpSpPr/>
        <p:nvPr/>
      </p:nvGrpSpPr>
      <p:grpSpPr>
        <a:xfrm>
          <a:off x="0" y="0"/>
          <a:ext cx="0" cy="0"/>
          <a:chOff x="0" y="0"/>
          <a:chExt cx="0" cy="0"/>
        </a:xfrm>
      </p:grpSpPr>
      <p:pic>
        <p:nvPicPr>
          <p:cNvPr descr="image.png" id="309" name="Google Shape;309;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10" name="Google Shape;310;p23" title="Capture d’écran 2026-08-12 à 00.33.23.png"/>
          <p:cNvPicPr preferRelativeResize="0"/>
          <p:nvPr/>
        </p:nvPicPr>
        <p:blipFill rotWithShape="1">
          <a:blip r:embed="rId4">
            <a:alphaModFix/>
          </a:blip>
          <a:srcRect b="0" l="3332" r="3332" t="0"/>
          <a:stretch/>
        </p:blipFill>
        <p:spPr>
          <a:xfrm>
            <a:off x="6262687" y="1943100"/>
            <a:ext cx="5405437" cy="3619500"/>
          </a:xfrm>
          <a:prstGeom prst="rect">
            <a:avLst/>
          </a:prstGeom>
          <a:noFill/>
          <a:ln>
            <a:noFill/>
          </a:ln>
        </p:spPr>
      </p:pic>
      <p:pic>
        <p:nvPicPr>
          <p:cNvPr descr="image.png" id="311" name="Google Shape;311;p23"/>
          <p:cNvPicPr preferRelativeResize="0"/>
          <p:nvPr/>
        </p:nvPicPr>
        <p:blipFill rotWithShape="1">
          <a:blip r:embed="rId5">
            <a:alphaModFix/>
          </a:blip>
          <a:srcRect b="0" l="0" r="0" t="0"/>
          <a:stretch/>
        </p:blipFill>
        <p:spPr>
          <a:xfrm>
            <a:off x="0" y="6353175"/>
            <a:ext cx="12192000" cy="504825"/>
          </a:xfrm>
          <a:prstGeom prst="rect">
            <a:avLst/>
          </a:prstGeom>
          <a:noFill/>
          <a:ln>
            <a:noFill/>
          </a:ln>
        </p:spPr>
      </p:pic>
      <p:pic>
        <p:nvPicPr>
          <p:cNvPr descr="image.png" id="312" name="Google Shape;312;p23"/>
          <p:cNvPicPr preferRelativeResize="0"/>
          <p:nvPr/>
        </p:nvPicPr>
        <p:blipFill rotWithShape="1">
          <a:blip r:embed="rId6">
            <a:alphaModFix/>
          </a:blip>
          <a:srcRect b="0" l="0" r="0" t="0"/>
          <a:stretch/>
        </p:blipFill>
        <p:spPr>
          <a:xfrm>
            <a:off x="523875" y="500062"/>
            <a:ext cx="333375" cy="266700"/>
          </a:xfrm>
          <a:prstGeom prst="rect">
            <a:avLst/>
          </a:prstGeom>
          <a:noFill/>
          <a:ln>
            <a:noFill/>
          </a:ln>
        </p:spPr>
      </p:pic>
      <p:sp>
        <p:nvSpPr>
          <p:cNvPr id="313" name="Google Shape;313;p23"/>
          <p:cNvSpPr txBox="1"/>
          <p:nvPr/>
        </p:nvSpPr>
        <p:spPr>
          <a:xfrm>
            <a:off x="285750" y="6457950"/>
            <a:ext cx="9877425" cy="30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475569"/>
                </a:solidFill>
                <a:latin typeface="Inter"/>
                <a:ea typeface="Inter"/>
                <a:cs typeface="Inter"/>
                <a:sym typeface="Inter"/>
              </a:rPr>
              <a:t>L'application intègre également le back-office puissant de Django Admin. Comme visible ici, il permet à l'administrateur de gérer les utilisateurs, de suivre les tables de données et d'assurer la modération globale du système.</a:t>
            </a:r>
            <a:endParaRPr/>
          </a:p>
        </p:txBody>
      </p:sp>
      <p:sp>
        <p:nvSpPr>
          <p:cNvPr id="314" name="Google Shape;314;p23"/>
          <p:cNvSpPr txBox="1"/>
          <p:nvPr/>
        </p:nvSpPr>
        <p:spPr>
          <a:xfrm>
            <a:off x="11591925" y="6538912"/>
            <a:ext cx="3143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Inter"/>
                <a:ea typeface="Inter"/>
                <a:cs typeface="Inter"/>
                <a:sym typeface="Inter"/>
              </a:rPr>
              <a:t>11 / 15</a:t>
            </a:r>
            <a:endParaRPr/>
          </a:p>
        </p:txBody>
      </p:sp>
      <p:sp>
        <p:nvSpPr>
          <p:cNvPr id="315" name="Google Shape;315;p23"/>
          <p:cNvSpPr txBox="1"/>
          <p:nvPr/>
        </p:nvSpPr>
        <p:spPr>
          <a:xfrm>
            <a:off x="523875" y="2443162"/>
            <a:ext cx="5675709"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F172A"/>
                </a:solidFill>
                <a:latin typeface="Plus Jakarta Sans"/>
                <a:ea typeface="Plus Jakarta Sans"/>
                <a:cs typeface="Plus Jakarta Sans"/>
                <a:sym typeface="Plus Jakarta Sans"/>
              </a:rPr>
              <a:t>Interface Django Admin Native</a:t>
            </a:r>
            <a:endParaRPr/>
          </a:p>
        </p:txBody>
      </p:sp>
      <p:sp>
        <p:nvSpPr>
          <p:cNvPr id="316" name="Google Shape;316;p23"/>
          <p:cNvSpPr txBox="1"/>
          <p:nvPr/>
        </p:nvSpPr>
        <p:spPr>
          <a:xfrm>
            <a:off x="790575" y="2662237"/>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Gestion des Superutilisateurs :</a:t>
            </a:r>
            <a:r>
              <a:rPr b="0" i="0" lang="en-US" sz="1275" u="none" cap="none" strike="noStrike">
                <a:solidFill>
                  <a:srgbClr val="334155"/>
                </a:solidFill>
                <a:latin typeface="Inter"/>
                <a:ea typeface="Inter"/>
                <a:cs typeface="Inter"/>
                <a:sym typeface="Inter"/>
              </a:rPr>
              <a:t> Back-office sécurisé accessible aux administrateurs.</a:t>
            </a:r>
            <a:endParaRPr/>
          </a:p>
        </p:txBody>
      </p:sp>
      <p:sp>
        <p:nvSpPr>
          <p:cNvPr id="317" name="Google Shape;317;p23"/>
          <p:cNvSpPr txBox="1"/>
          <p:nvPr/>
        </p:nvSpPr>
        <p:spPr>
          <a:xfrm>
            <a:off x="790575" y="3262312"/>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Supervision des Données :</a:t>
            </a:r>
            <a:r>
              <a:rPr b="0" i="0" lang="en-US" sz="1275" u="none" cap="none" strike="noStrike">
                <a:solidFill>
                  <a:srgbClr val="334155"/>
                </a:solidFill>
                <a:latin typeface="Inter"/>
                <a:ea typeface="Inter"/>
                <a:cs typeface="Inter"/>
                <a:sym typeface="Inter"/>
              </a:rPr>
              <a:t> Vue directe sur l'ensemble des tables (Utilisateurs, Projets, Tâches).</a:t>
            </a:r>
            <a:endParaRPr/>
          </a:p>
        </p:txBody>
      </p:sp>
      <p:sp>
        <p:nvSpPr>
          <p:cNvPr id="318" name="Google Shape;318;p23"/>
          <p:cNvSpPr txBox="1"/>
          <p:nvPr/>
        </p:nvSpPr>
        <p:spPr>
          <a:xfrm>
            <a:off x="790575" y="3862387"/>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Modération &amp; Support :</a:t>
            </a:r>
            <a:r>
              <a:rPr b="0" i="0" lang="en-US" sz="1275" u="none" cap="none" strike="noStrike">
                <a:solidFill>
                  <a:srgbClr val="334155"/>
                </a:solidFill>
                <a:latin typeface="Inter"/>
                <a:ea typeface="Inter"/>
                <a:cs typeface="Inter"/>
                <a:sym typeface="Inter"/>
              </a:rPr>
              <a:t> Capacité d'inspection, d'édition ou de réinitialisation des comptes.</a:t>
            </a:r>
            <a:endParaRPr/>
          </a:p>
        </p:txBody>
      </p:sp>
      <p:sp>
        <p:nvSpPr>
          <p:cNvPr id="319" name="Google Shape;319;p23"/>
          <p:cNvSpPr txBox="1"/>
          <p:nvPr/>
        </p:nvSpPr>
        <p:spPr>
          <a:xfrm>
            <a:off x="790575" y="4462462"/>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Sécurité des Accès :</a:t>
            </a:r>
            <a:r>
              <a:rPr b="0" i="0" lang="en-US" sz="1275" u="none" cap="none" strike="noStrike">
                <a:solidFill>
                  <a:srgbClr val="334155"/>
                </a:solidFill>
                <a:latin typeface="Inter"/>
                <a:ea typeface="Inter"/>
                <a:cs typeface="Inter"/>
                <a:sym typeface="Inter"/>
              </a:rPr>
              <a:t> Séparation stricte entre l'interface utilisateur et le back-office.</a:t>
            </a:r>
            <a:endParaRPr/>
          </a:p>
        </p:txBody>
      </p:sp>
      <p:sp>
        <p:nvSpPr>
          <p:cNvPr id="320" name="Google Shape;320;p23"/>
          <p:cNvSpPr txBox="1"/>
          <p:nvPr/>
        </p:nvSpPr>
        <p:spPr>
          <a:xfrm>
            <a:off x="523875" y="2662237"/>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321" name="Google Shape;321;p23"/>
          <p:cNvSpPr txBox="1"/>
          <p:nvPr/>
        </p:nvSpPr>
        <p:spPr>
          <a:xfrm>
            <a:off x="523875" y="3262312"/>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322" name="Google Shape;322;p23"/>
          <p:cNvSpPr txBox="1"/>
          <p:nvPr/>
        </p:nvSpPr>
        <p:spPr>
          <a:xfrm>
            <a:off x="523875" y="3862387"/>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323" name="Google Shape;323;p23"/>
          <p:cNvSpPr txBox="1"/>
          <p:nvPr/>
        </p:nvSpPr>
        <p:spPr>
          <a:xfrm>
            <a:off x="523875" y="4462462"/>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324" name="Google Shape;324;p23"/>
          <p:cNvSpPr txBox="1"/>
          <p:nvPr/>
        </p:nvSpPr>
        <p:spPr>
          <a:xfrm>
            <a:off x="971550" y="428625"/>
            <a:ext cx="11220450"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550" u="none" cap="none" strike="noStrike">
                <a:solidFill>
                  <a:srgbClr val="0F172A"/>
                </a:solidFill>
                <a:latin typeface="Plus Jakarta Sans ExtraBold"/>
                <a:ea typeface="Plus Jakarta Sans ExtraBold"/>
                <a:cs typeface="Plus Jakarta Sans ExtraBold"/>
                <a:sym typeface="Plus Jakarta Sans ExtraBold"/>
              </a:rPr>
              <a:t>Administration Système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8" name="Shape 328"/>
        <p:cNvGrpSpPr/>
        <p:nvPr/>
      </p:nvGrpSpPr>
      <p:grpSpPr>
        <a:xfrm>
          <a:off x="0" y="0"/>
          <a:ext cx="0" cy="0"/>
          <a:chOff x="0" y="0"/>
          <a:chExt cx="0" cy="0"/>
        </a:xfrm>
      </p:grpSpPr>
      <p:pic>
        <p:nvPicPr>
          <p:cNvPr descr="image.png" id="329" name="Google Shape;329;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30" name="Google Shape;330;p24"/>
          <p:cNvPicPr preferRelativeResize="0"/>
          <p:nvPr/>
        </p:nvPicPr>
        <p:blipFill rotWithShape="1">
          <a:blip r:embed="rId4">
            <a:alphaModFix/>
          </a:blip>
          <a:srcRect b="0" l="0" r="0" t="0"/>
          <a:stretch/>
        </p:blipFill>
        <p:spPr>
          <a:xfrm>
            <a:off x="523875" y="2571750"/>
            <a:ext cx="5405437" cy="638175"/>
          </a:xfrm>
          <a:prstGeom prst="rect">
            <a:avLst/>
          </a:prstGeom>
          <a:noFill/>
          <a:ln>
            <a:noFill/>
          </a:ln>
        </p:spPr>
      </p:pic>
      <p:pic>
        <p:nvPicPr>
          <p:cNvPr id="331" name="Google Shape;331;p24" title="Capture d’écran 2026-08-12 à 00.35.59.png"/>
          <p:cNvPicPr preferRelativeResize="0"/>
          <p:nvPr/>
        </p:nvPicPr>
        <p:blipFill rotWithShape="1">
          <a:blip r:embed="rId5">
            <a:alphaModFix/>
          </a:blip>
          <a:srcRect b="0" l="1681" r="1681" t="0"/>
          <a:stretch/>
        </p:blipFill>
        <p:spPr>
          <a:xfrm>
            <a:off x="6262687" y="1943100"/>
            <a:ext cx="5405438" cy="3619499"/>
          </a:xfrm>
          <a:prstGeom prst="rect">
            <a:avLst/>
          </a:prstGeom>
          <a:noFill/>
          <a:ln>
            <a:noFill/>
          </a:ln>
        </p:spPr>
      </p:pic>
      <p:pic>
        <p:nvPicPr>
          <p:cNvPr descr="image.png" id="332" name="Google Shape;332;p24"/>
          <p:cNvPicPr preferRelativeResize="0"/>
          <p:nvPr/>
        </p:nvPicPr>
        <p:blipFill rotWithShape="1">
          <a:blip r:embed="rId6">
            <a:alphaModFix/>
          </a:blip>
          <a:srcRect b="0" l="0" r="0" t="0"/>
          <a:stretch/>
        </p:blipFill>
        <p:spPr>
          <a:xfrm>
            <a:off x="0" y="6353175"/>
            <a:ext cx="12192000" cy="504825"/>
          </a:xfrm>
          <a:prstGeom prst="rect">
            <a:avLst/>
          </a:prstGeom>
          <a:noFill/>
          <a:ln>
            <a:noFill/>
          </a:ln>
        </p:spPr>
      </p:pic>
      <p:pic>
        <p:nvPicPr>
          <p:cNvPr descr="image.png" id="333" name="Google Shape;333;p24"/>
          <p:cNvPicPr preferRelativeResize="0"/>
          <p:nvPr/>
        </p:nvPicPr>
        <p:blipFill rotWithShape="1">
          <a:blip r:embed="rId7">
            <a:alphaModFix/>
          </a:blip>
          <a:srcRect b="0" l="0" r="0" t="0"/>
          <a:stretch/>
        </p:blipFill>
        <p:spPr>
          <a:xfrm>
            <a:off x="523875" y="500062"/>
            <a:ext cx="333375" cy="266700"/>
          </a:xfrm>
          <a:prstGeom prst="rect">
            <a:avLst/>
          </a:prstGeom>
          <a:noFill/>
          <a:ln>
            <a:noFill/>
          </a:ln>
        </p:spPr>
      </p:pic>
      <p:sp>
        <p:nvSpPr>
          <p:cNvPr id="334" name="Google Shape;334;p24"/>
          <p:cNvSpPr txBox="1"/>
          <p:nvPr/>
        </p:nvSpPr>
        <p:spPr>
          <a:xfrm>
            <a:off x="285750" y="6457950"/>
            <a:ext cx="9877425" cy="30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475569"/>
                </a:solidFill>
                <a:latin typeface="Inter"/>
                <a:ea typeface="Inter"/>
                <a:cs typeface="Inter"/>
                <a:sym typeface="Inter"/>
              </a:rPr>
              <a:t>Pour le déploiement en production, nous avons mis en place une chaîne d'intégration continue : chaque push sur notre dépôt GitHub déclenche un déploiement automatique sur la plateforme Railway interconnectée à notre base PostgreSQL.</a:t>
            </a:r>
            <a:endParaRPr/>
          </a:p>
        </p:txBody>
      </p:sp>
      <p:sp>
        <p:nvSpPr>
          <p:cNvPr id="335" name="Google Shape;335;p24"/>
          <p:cNvSpPr txBox="1"/>
          <p:nvPr/>
        </p:nvSpPr>
        <p:spPr>
          <a:xfrm>
            <a:off x="11563350" y="6538912"/>
            <a:ext cx="3429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Inter"/>
                <a:ea typeface="Inter"/>
                <a:cs typeface="Inter"/>
                <a:sym typeface="Inter"/>
              </a:rPr>
              <a:t>12 / 15</a:t>
            </a:r>
            <a:endParaRPr/>
          </a:p>
        </p:txBody>
      </p:sp>
      <p:sp>
        <p:nvSpPr>
          <p:cNvPr id="336" name="Google Shape;336;p24"/>
          <p:cNvSpPr txBox="1"/>
          <p:nvPr/>
        </p:nvSpPr>
        <p:spPr>
          <a:xfrm>
            <a:off x="523875" y="2352675"/>
            <a:ext cx="5675709"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F172A"/>
                </a:solidFill>
                <a:latin typeface="Plus Jakarta Sans"/>
                <a:ea typeface="Plus Jakarta Sans"/>
                <a:cs typeface="Plus Jakarta Sans"/>
                <a:sym typeface="Plus Jakarta Sans"/>
              </a:rPr>
              <a:t>Pipeline de Déploiement Continu</a:t>
            </a:r>
            <a:endParaRPr/>
          </a:p>
        </p:txBody>
      </p:sp>
      <p:sp>
        <p:nvSpPr>
          <p:cNvPr id="337" name="Google Shape;337;p24"/>
          <p:cNvSpPr txBox="1"/>
          <p:nvPr/>
        </p:nvSpPr>
        <p:spPr>
          <a:xfrm>
            <a:off x="790575" y="3352800"/>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Hébergeur Cloud :</a:t>
            </a:r>
            <a:r>
              <a:rPr b="0" i="0" lang="en-US" sz="1275" u="none" cap="none" strike="noStrike">
                <a:solidFill>
                  <a:srgbClr val="334155"/>
                </a:solidFill>
                <a:latin typeface="Inter"/>
                <a:ea typeface="Inter"/>
                <a:cs typeface="Inter"/>
                <a:sym typeface="Inter"/>
              </a:rPr>
              <a:t> Railway PaaS avec instance de base PostgreSQL gérée.</a:t>
            </a:r>
            <a:endParaRPr/>
          </a:p>
        </p:txBody>
      </p:sp>
      <p:sp>
        <p:nvSpPr>
          <p:cNvPr id="338" name="Google Shape;338;p24"/>
          <p:cNvSpPr txBox="1"/>
          <p:nvPr/>
        </p:nvSpPr>
        <p:spPr>
          <a:xfrm>
            <a:off x="790575" y="3952875"/>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Gunicorn &amp; WhiteNoise :</a:t>
            </a:r>
            <a:r>
              <a:rPr b="0" i="0" lang="en-US" sz="1275" u="none" cap="none" strike="noStrike">
                <a:solidFill>
                  <a:srgbClr val="334155"/>
                </a:solidFill>
                <a:latin typeface="Inter"/>
                <a:ea typeface="Inter"/>
                <a:cs typeface="Inter"/>
                <a:sym typeface="Inter"/>
              </a:rPr>
              <a:t> Serveur de production et distribution efficace des fichiers statiques CSS/JS.</a:t>
            </a:r>
            <a:endParaRPr/>
          </a:p>
        </p:txBody>
      </p:sp>
      <p:sp>
        <p:nvSpPr>
          <p:cNvPr id="339" name="Google Shape;339;p24"/>
          <p:cNvSpPr txBox="1"/>
          <p:nvPr/>
        </p:nvSpPr>
        <p:spPr>
          <a:xfrm>
            <a:off x="790575" y="4552950"/>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Variables d'Environnement :</a:t>
            </a:r>
            <a:r>
              <a:rPr b="0" i="0" lang="en-US" sz="1275" u="none" cap="none" strike="noStrike">
                <a:solidFill>
                  <a:srgbClr val="334155"/>
                </a:solidFill>
                <a:latin typeface="Inter"/>
                <a:ea typeface="Inter"/>
                <a:cs typeface="Inter"/>
                <a:sym typeface="Inter"/>
              </a:rPr>
              <a:t> Masquage des clés secrètes SECRET_KEY et identifiants BDD.</a:t>
            </a:r>
            <a:endParaRPr/>
          </a:p>
        </p:txBody>
      </p:sp>
      <p:sp>
        <p:nvSpPr>
          <p:cNvPr id="340" name="Google Shape;340;p24"/>
          <p:cNvSpPr txBox="1"/>
          <p:nvPr/>
        </p:nvSpPr>
        <p:spPr>
          <a:xfrm>
            <a:off x="523875" y="3352800"/>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341" name="Google Shape;341;p24"/>
          <p:cNvSpPr txBox="1"/>
          <p:nvPr/>
        </p:nvSpPr>
        <p:spPr>
          <a:xfrm>
            <a:off x="523875" y="3952875"/>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342" name="Google Shape;342;p24"/>
          <p:cNvSpPr txBox="1"/>
          <p:nvPr/>
        </p:nvSpPr>
        <p:spPr>
          <a:xfrm>
            <a:off x="523875" y="4552950"/>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343" name="Google Shape;343;p24"/>
          <p:cNvSpPr txBox="1"/>
          <p:nvPr/>
        </p:nvSpPr>
        <p:spPr>
          <a:xfrm>
            <a:off x="971550" y="428625"/>
            <a:ext cx="11220450"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550" u="none" cap="none" strike="noStrike">
                <a:solidFill>
                  <a:srgbClr val="0F172A"/>
                </a:solidFill>
                <a:latin typeface="Plus Jakarta Sans ExtraBold"/>
                <a:ea typeface="Plus Jakarta Sans ExtraBold"/>
                <a:cs typeface="Plus Jakarta Sans ExtraBold"/>
                <a:sym typeface="Plus Jakarta Sans ExtraBold"/>
              </a:rPr>
              <a:t>Processus de Déploiement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7" name="Shape 347"/>
        <p:cNvGrpSpPr/>
        <p:nvPr/>
      </p:nvGrpSpPr>
      <p:grpSpPr>
        <a:xfrm>
          <a:off x="0" y="0"/>
          <a:ext cx="0" cy="0"/>
          <a:chOff x="0" y="0"/>
          <a:chExt cx="0" cy="0"/>
        </a:xfrm>
      </p:grpSpPr>
      <p:pic>
        <p:nvPicPr>
          <p:cNvPr descr="image.png" id="348" name="Google Shape;348;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49" name="Google Shape;349;p25"/>
          <p:cNvPicPr preferRelativeResize="0"/>
          <p:nvPr/>
        </p:nvPicPr>
        <p:blipFill rotWithShape="1">
          <a:blip r:embed="rId4">
            <a:alphaModFix/>
          </a:blip>
          <a:srcRect b="0" l="0" r="0" t="0"/>
          <a:stretch/>
        </p:blipFill>
        <p:spPr>
          <a:xfrm>
            <a:off x="0" y="6353175"/>
            <a:ext cx="12192000" cy="504825"/>
          </a:xfrm>
          <a:prstGeom prst="rect">
            <a:avLst/>
          </a:prstGeom>
          <a:noFill/>
          <a:ln>
            <a:noFill/>
          </a:ln>
        </p:spPr>
      </p:pic>
      <p:pic>
        <p:nvPicPr>
          <p:cNvPr descr="image.png" id="350" name="Google Shape;350;p25"/>
          <p:cNvPicPr preferRelativeResize="0"/>
          <p:nvPr/>
        </p:nvPicPr>
        <p:blipFill rotWithShape="1">
          <a:blip r:embed="rId5">
            <a:alphaModFix/>
          </a:blip>
          <a:srcRect b="0" l="0" r="0" t="0"/>
          <a:stretch/>
        </p:blipFill>
        <p:spPr>
          <a:xfrm>
            <a:off x="523875" y="500062"/>
            <a:ext cx="266700" cy="266700"/>
          </a:xfrm>
          <a:prstGeom prst="rect">
            <a:avLst/>
          </a:prstGeom>
          <a:noFill/>
          <a:ln>
            <a:noFill/>
          </a:ln>
        </p:spPr>
      </p:pic>
      <p:sp>
        <p:nvSpPr>
          <p:cNvPr id="351" name="Google Shape;351;p25"/>
          <p:cNvSpPr txBox="1"/>
          <p:nvPr/>
        </p:nvSpPr>
        <p:spPr>
          <a:xfrm>
            <a:off x="285750" y="6457950"/>
            <a:ext cx="9877425" cy="30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475569"/>
                </a:solidFill>
                <a:latin typeface="Inter"/>
                <a:ea typeface="Inter"/>
                <a:cs typeface="Inter"/>
                <a:sym typeface="Inter"/>
              </a:rPr>
              <a:t>Le passage en production a apporté son lot de défis réels : gestion des fichiers statiques avec WhiteNoise, corrections des origines CSRF et exécution des migrations sur PostgreSQL. L'analyse des logs Railway nous a permis d'y remédier efficacement.</a:t>
            </a:r>
            <a:endParaRPr/>
          </a:p>
        </p:txBody>
      </p:sp>
      <p:sp>
        <p:nvSpPr>
          <p:cNvPr id="352" name="Google Shape;352;p25"/>
          <p:cNvSpPr txBox="1"/>
          <p:nvPr/>
        </p:nvSpPr>
        <p:spPr>
          <a:xfrm>
            <a:off x="11563350" y="6538912"/>
            <a:ext cx="3429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Inter"/>
                <a:ea typeface="Inter"/>
                <a:cs typeface="Inter"/>
                <a:sym typeface="Inter"/>
              </a:rPr>
              <a:t>13 / 15</a:t>
            </a:r>
            <a:endParaRPr/>
          </a:p>
        </p:txBody>
      </p:sp>
      <p:graphicFrame>
        <p:nvGraphicFramePr>
          <p:cNvPr id="353" name="Google Shape;353;p25"/>
          <p:cNvGraphicFramePr/>
          <p:nvPr/>
        </p:nvGraphicFramePr>
        <p:xfrm>
          <a:off x="523875" y="2097881"/>
          <a:ext cx="3000000" cy="3000000"/>
        </p:xfrm>
        <a:graphic>
          <a:graphicData uri="http://schemas.openxmlformats.org/drawingml/2006/table">
            <a:tbl>
              <a:tblPr bandRow="1" firstRow="1">
                <a:noFill/>
                <a:tableStyleId>{64529F80-D2EF-45C8-8D44-3E504491361E}</a:tableStyleId>
              </a:tblPr>
              <a:tblGrid>
                <a:gridCol w="3343275"/>
                <a:gridCol w="3900475"/>
                <a:gridCol w="3900475"/>
              </a:tblGrid>
              <a:tr h="661975">
                <a:tc>
                  <a:txBody>
                    <a:bodyPr/>
                    <a:lstStyle/>
                    <a:p>
                      <a:pPr indent="0" lvl="0" marL="0" marR="0" rtl="0" algn="l">
                        <a:spcBef>
                          <a:spcPts val="0"/>
                        </a:spcBef>
                        <a:spcAft>
                          <a:spcPts val="0"/>
                        </a:spcAft>
                        <a:buNone/>
                      </a:pPr>
                      <a:r>
                        <a:rPr b="1" i="0" lang="en-US" sz="1125" u="none" cap="none" strike="noStrike">
                          <a:solidFill>
                            <a:srgbClr val="0F172A"/>
                          </a:solidFill>
                          <a:latin typeface="Inter"/>
                          <a:ea typeface="Inter"/>
                          <a:cs typeface="Inter"/>
                          <a:sym typeface="Inter"/>
                        </a:rPr>
                        <a:t>Problème Identifié</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US" sz="1125" u="none" cap="none" strike="noStrike">
                          <a:solidFill>
                            <a:srgbClr val="0F172A"/>
                          </a:solidFill>
                          <a:latin typeface="Inter"/>
                          <a:ea typeface="Inter"/>
                          <a:cs typeface="Inter"/>
                          <a:sym typeface="Inter"/>
                        </a:rPr>
                        <a:t>Cause Technique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US" sz="1125" u="none" cap="none" strike="noStrike">
                          <a:solidFill>
                            <a:srgbClr val="0F172A"/>
                          </a:solidFill>
                          <a:latin typeface="Inter"/>
                          <a:ea typeface="Inter"/>
                          <a:cs typeface="Inter"/>
                          <a:sym typeface="Inter"/>
                        </a:rPr>
                        <a:t>Solution Appliquée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r>
              <a:tr h="661975">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Erreur CSRF Verification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Inter"/>
                          <a:ea typeface="Inter"/>
                          <a:cs typeface="Inter"/>
                          <a:sym typeface="Inter"/>
                        </a:rPr>
                        <a:t>Domaine de production non reconnu lors de l'inscription.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Inter"/>
                          <a:ea typeface="Inter"/>
                          <a:cs typeface="Inter"/>
                          <a:sym typeface="Inter"/>
                        </a:rPr>
                        <a:t>Configuration des paramètres CSRF_TRUSTED_ORIGINS dans settings.py.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61975">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Fichiers Statiques CSS Non Chargés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Inter"/>
                          <a:ea typeface="Inter"/>
                          <a:cs typeface="Inter"/>
                          <a:sym typeface="Inter"/>
                        </a:rPr>
                        <a:t>Absence de serveur pour servir les fichiers statiques en prod.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Inter"/>
                          <a:ea typeface="Inter"/>
                          <a:cs typeface="Inter"/>
                          <a:sym typeface="Inter"/>
                        </a:rPr>
                        <a:t>Intégration de </a:t>
                      </a:r>
                      <a:r>
                        <a:rPr b="1" i="0" lang="en-US" sz="1125" u="none" cap="none" strike="noStrike">
                          <a:solidFill>
                            <a:srgbClr val="334155"/>
                          </a:solidFill>
                          <a:latin typeface="Inter"/>
                          <a:ea typeface="Inter"/>
                          <a:cs typeface="Inter"/>
                          <a:sym typeface="Inter"/>
                        </a:rPr>
                        <a:t>WhiteNoise</a:t>
                      </a:r>
                      <a:r>
                        <a:rPr b="0" i="0" lang="en-US" sz="1125" u="none" cap="none" strike="noStrike">
                          <a:solidFill>
                            <a:srgbClr val="334155"/>
                          </a:solidFill>
                          <a:latin typeface="Inter"/>
                          <a:ea typeface="Inter"/>
                          <a:cs typeface="Inter"/>
                          <a:sym typeface="Inter"/>
                        </a:rPr>
                        <a:t> et exécution automatique de collectstatic.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61975">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Tables BDD Manquantes (Prod)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Inter"/>
                          <a:ea typeface="Inter"/>
                          <a:cs typeface="Inter"/>
                          <a:sym typeface="Inter"/>
                        </a:rPr>
                        <a:t>La base PostgreSQL Railway initiale était vide.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Inter"/>
                          <a:ea typeface="Inter"/>
                          <a:cs typeface="Inter"/>
                          <a:sym typeface="Inter"/>
                        </a:rPr>
                        <a:t>Exécution automatique de python manage.py migrate au build.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62000">
                <a:tc>
                  <a:txBody>
                    <a:bodyPr/>
                    <a:lstStyle/>
                    <a:p>
                      <a:pPr indent="0" lvl="0" marL="0" marR="0" rtl="0" algn="l">
                        <a:spcBef>
                          <a:spcPts val="0"/>
                        </a:spcBef>
                        <a:spcAft>
                          <a:spcPts val="0"/>
                        </a:spcAft>
                        <a:buNone/>
                      </a:pPr>
                      <a:r>
                        <a:rPr b="1" i="0" lang="en-US" sz="1125" u="none" cap="none" strike="noStrike">
                          <a:solidFill>
                            <a:srgbClr val="334155"/>
                          </a:solidFill>
                          <a:latin typeface="Inter"/>
                          <a:ea typeface="Inter"/>
                          <a:cs typeface="Inter"/>
                          <a:sym typeface="Inter"/>
                        </a:rPr>
                        <a:t>Erreur Serveur 500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Inter"/>
                          <a:ea typeface="Inter"/>
                          <a:cs typeface="Inter"/>
                          <a:sym typeface="Inter"/>
                        </a:rPr>
                        <a:t>Mauvaise variable de configuration en déploiement initial.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Inter"/>
                          <a:ea typeface="Inter"/>
                          <a:cs typeface="Inter"/>
                          <a:sym typeface="Inter"/>
                        </a:rPr>
                        <a:t>Analyse minutieuse des logs Railway et ajustement progressif des variables.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54" name="Google Shape;354;p25"/>
          <p:cNvSpPr/>
          <p:nvPr/>
        </p:nvSpPr>
        <p:spPr>
          <a:xfrm>
            <a:off x="523875" y="2574131"/>
            <a:ext cx="33432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25"/>
          <p:cNvSpPr/>
          <p:nvPr/>
        </p:nvSpPr>
        <p:spPr>
          <a:xfrm>
            <a:off x="3867150" y="2574131"/>
            <a:ext cx="39004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6" name="Google Shape;356;p25"/>
          <p:cNvSpPr/>
          <p:nvPr/>
        </p:nvSpPr>
        <p:spPr>
          <a:xfrm>
            <a:off x="7767637" y="2574131"/>
            <a:ext cx="39004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7" name="Google Shape;357;p25"/>
          <p:cNvSpPr/>
          <p:nvPr/>
        </p:nvSpPr>
        <p:spPr>
          <a:xfrm>
            <a:off x="523875" y="3278981"/>
            <a:ext cx="33432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8" name="Google Shape;358;p25"/>
          <p:cNvSpPr/>
          <p:nvPr/>
        </p:nvSpPr>
        <p:spPr>
          <a:xfrm>
            <a:off x="3867150" y="3278981"/>
            <a:ext cx="39004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9" name="Google Shape;359;p25"/>
          <p:cNvSpPr/>
          <p:nvPr/>
        </p:nvSpPr>
        <p:spPr>
          <a:xfrm>
            <a:off x="7767637" y="3278981"/>
            <a:ext cx="39004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0" name="Google Shape;360;p25"/>
          <p:cNvSpPr/>
          <p:nvPr/>
        </p:nvSpPr>
        <p:spPr>
          <a:xfrm>
            <a:off x="523875" y="3983831"/>
            <a:ext cx="33432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25"/>
          <p:cNvSpPr/>
          <p:nvPr/>
        </p:nvSpPr>
        <p:spPr>
          <a:xfrm>
            <a:off x="3867150" y="3983831"/>
            <a:ext cx="39004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2" name="Google Shape;362;p25"/>
          <p:cNvSpPr/>
          <p:nvPr/>
        </p:nvSpPr>
        <p:spPr>
          <a:xfrm>
            <a:off x="7767637" y="3983831"/>
            <a:ext cx="39004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3" name="Google Shape;363;p25"/>
          <p:cNvSpPr/>
          <p:nvPr/>
        </p:nvSpPr>
        <p:spPr>
          <a:xfrm>
            <a:off x="523875" y="4688681"/>
            <a:ext cx="33432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4" name="Google Shape;364;p25"/>
          <p:cNvSpPr/>
          <p:nvPr/>
        </p:nvSpPr>
        <p:spPr>
          <a:xfrm>
            <a:off x="3867150" y="4688681"/>
            <a:ext cx="39004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5" name="Google Shape;365;p25"/>
          <p:cNvSpPr/>
          <p:nvPr/>
        </p:nvSpPr>
        <p:spPr>
          <a:xfrm>
            <a:off x="7767637" y="4688681"/>
            <a:ext cx="39004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6" name="Google Shape;366;p25"/>
          <p:cNvSpPr/>
          <p:nvPr/>
        </p:nvSpPr>
        <p:spPr>
          <a:xfrm>
            <a:off x="523875" y="5393531"/>
            <a:ext cx="33432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25"/>
          <p:cNvSpPr/>
          <p:nvPr/>
        </p:nvSpPr>
        <p:spPr>
          <a:xfrm>
            <a:off x="3867150" y="5393531"/>
            <a:ext cx="39004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8" name="Google Shape;368;p25"/>
          <p:cNvSpPr/>
          <p:nvPr/>
        </p:nvSpPr>
        <p:spPr>
          <a:xfrm>
            <a:off x="7767637" y="5393531"/>
            <a:ext cx="39004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p25"/>
          <p:cNvSpPr txBox="1"/>
          <p:nvPr/>
        </p:nvSpPr>
        <p:spPr>
          <a:xfrm>
            <a:off x="904875" y="428625"/>
            <a:ext cx="11287125"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550" u="none" cap="none" strike="noStrike">
                <a:solidFill>
                  <a:srgbClr val="0F172A"/>
                </a:solidFill>
                <a:latin typeface="Plus Jakarta Sans ExtraBold"/>
                <a:ea typeface="Plus Jakarta Sans ExtraBold"/>
                <a:cs typeface="Plus Jakarta Sans ExtraBold"/>
                <a:sym typeface="Plus Jakarta Sans ExtraBold"/>
              </a:rPr>
              <a:t>Difficultés Rencontrées &amp; Solutions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pic>
        <p:nvPicPr>
          <p:cNvPr descr="image.png" id="374" name="Google Shape;374;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75" name="Google Shape;375;p26" title="Capture d’écran 2026-08-12 à 00.51.05.png"/>
          <p:cNvPicPr preferRelativeResize="0"/>
          <p:nvPr/>
        </p:nvPicPr>
        <p:blipFill rotWithShape="1">
          <a:blip r:embed="rId4">
            <a:alphaModFix/>
          </a:blip>
          <a:srcRect b="0" l="5799" r="5799" t="0"/>
          <a:stretch/>
        </p:blipFill>
        <p:spPr>
          <a:xfrm>
            <a:off x="6262687" y="1943100"/>
            <a:ext cx="5405436" cy="3619501"/>
          </a:xfrm>
          <a:prstGeom prst="rect">
            <a:avLst/>
          </a:prstGeom>
          <a:noFill/>
          <a:ln>
            <a:noFill/>
          </a:ln>
        </p:spPr>
      </p:pic>
      <p:pic>
        <p:nvPicPr>
          <p:cNvPr descr="image.png" id="376" name="Google Shape;376;p26"/>
          <p:cNvPicPr preferRelativeResize="0"/>
          <p:nvPr/>
        </p:nvPicPr>
        <p:blipFill rotWithShape="1">
          <a:blip r:embed="rId5">
            <a:alphaModFix/>
          </a:blip>
          <a:srcRect b="0" l="0" r="0" t="0"/>
          <a:stretch/>
        </p:blipFill>
        <p:spPr>
          <a:xfrm>
            <a:off x="0" y="6353175"/>
            <a:ext cx="12192000" cy="504825"/>
          </a:xfrm>
          <a:prstGeom prst="rect">
            <a:avLst/>
          </a:prstGeom>
          <a:noFill/>
          <a:ln>
            <a:noFill/>
          </a:ln>
        </p:spPr>
      </p:pic>
      <p:pic>
        <p:nvPicPr>
          <p:cNvPr descr="image.png" id="377" name="Google Shape;377;p26"/>
          <p:cNvPicPr preferRelativeResize="0"/>
          <p:nvPr/>
        </p:nvPicPr>
        <p:blipFill rotWithShape="1">
          <a:blip r:embed="rId6">
            <a:alphaModFix/>
          </a:blip>
          <a:srcRect b="0" l="0" r="0" t="0"/>
          <a:stretch/>
        </p:blipFill>
        <p:spPr>
          <a:xfrm>
            <a:off x="523875" y="500062"/>
            <a:ext cx="266700" cy="266700"/>
          </a:xfrm>
          <a:prstGeom prst="rect">
            <a:avLst/>
          </a:prstGeom>
          <a:noFill/>
          <a:ln>
            <a:noFill/>
          </a:ln>
        </p:spPr>
      </p:pic>
      <p:sp>
        <p:nvSpPr>
          <p:cNvPr id="378" name="Google Shape;378;p26"/>
          <p:cNvSpPr txBox="1"/>
          <p:nvPr/>
        </p:nvSpPr>
        <p:spPr>
          <a:xfrm>
            <a:off x="285750" y="6457950"/>
            <a:ext cx="9877425" cy="30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475569"/>
                </a:solidFill>
                <a:latin typeface="Inter"/>
                <a:ea typeface="Inter"/>
                <a:cs typeface="Inter"/>
                <a:sym typeface="Inter"/>
              </a:rPr>
              <a:t>Au terme de ce travail, le bilan est extrêmement positif. L'application ToDoList V1 offre une solution de gestion de projets complète, fluide et accessible en ligne, répondant à 100% au cahier des charges initial.</a:t>
            </a:r>
            <a:endParaRPr/>
          </a:p>
        </p:txBody>
      </p:sp>
      <p:sp>
        <p:nvSpPr>
          <p:cNvPr id="379" name="Google Shape;379;p26"/>
          <p:cNvSpPr txBox="1"/>
          <p:nvPr/>
        </p:nvSpPr>
        <p:spPr>
          <a:xfrm>
            <a:off x="11563350" y="6538912"/>
            <a:ext cx="3429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Inter"/>
                <a:ea typeface="Inter"/>
                <a:cs typeface="Inter"/>
                <a:sym typeface="Inter"/>
              </a:rPr>
              <a:t>14 / 15</a:t>
            </a:r>
            <a:endParaRPr/>
          </a:p>
        </p:txBody>
      </p:sp>
      <p:sp>
        <p:nvSpPr>
          <p:cNvPr id="380" name="Google Shape;380;p26"/>
          <p:cNvSpPr txBox="1"/>
          <p:nvPr/>
        </p:nvSpPr>
        <p:spPr>
          <a:xfrm>
            <a:off x="523875" y="2564606"/>
            <a:ext cx="5675709"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F172A"/>
                </a:solidFill>
                <a:latin typeface="Plus Jakarta Sans"/>
                <a:ea typeface="Plus Jakarta Sans"/>
                <a:cs typeface="Plus Jakarta Sans"/>
                <a:sym typeface="Plus Jakarta Sans"/>
              </a:rPr>
              <a:t>Bilan du Projet V1</a:t>
            </a:r>
            <a:endParaRPr/>
          </a:p>
        </p:txBody>
      </p:sp>
      <p:sp>
        <p:nvSpPr>
          <p:cNvPr id="381" name="Google Shape;381;p26"/>
          <p:cNvSpPr txBox="1"/>
          <p:nvPr/>
        </p:nvSpPr>
        <p:spPr>
          <a:xfrm>
            <a:off x="790575" y="2783681"/>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Application 100% Fonctionnelle :</a:t>
            </a:r>
            <a:r>
              <a:rPr b="0" i="0" lang="en-US" sz="1275" u="none" cap="none" strike="noStrike">
                <a:solidFill>
                  <a:srgbClr val="334155"/>
                </a:solidFill>
                <a:latin typeface="Inter"/>
                <a:ea typeface="Inter"/>
                <a:cs typeface="Inter"/>
                <a:sym typeface="Inter"/>
              </a:rPr>
              <a:t> Plateforme en ligne stable, accessible sans interruption.</a:t>
            </a:r>
            <a:endParaRPr/>
          </a:p>
        </p:txBody>
      </p:sp>
      <p:sp>
        <p:nvSpPr>
          <p:cNvPr id="382" name="Google Shape;382;p26"/>
          <p:cNvSpPr txBox="1"/>
          <p:nvPr/>
        </p:nvSpPr>
        <p:spPr>
          <a:xfrm>
            <a:off x="790575" y="3383756"/>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Flux Complet Opérationnel :</a:t>
            </a:r>
            <a:r>
              <a:rPr b="0" i="0" lang="en-US" sz="1275" u="none" cap="none" strike="noStrike">
                <a:solidFill>
                  <a:srgbClr val="334155"/>
                </a:solidFill>
                <a:latin typeface="Inter"/>
                <a:ea typeface="Inter"/>
                <a:cs typeface="Inter"/>
                <a:sym typeface="Inter"/>
              </a:rPr>
              <a:t> Inscription, création de projets, attribution de tâches et suivi de progression.</a:t>
            </a:r>
            <a:endParaRPr/>
          </a:p>
        </p:txBody>
      </p:sp>
      <p:sp>
        <p:nvSpPr>
          <p:cNvPr id="383" name="Google Shape;383;p26"/>
          <p:cNvSpPr txBox="1"/>
          <p:nvPr/>
        </p:nvSpPr>
        <p:spPr>
          <a:xfrm>
            <a:off x="790575" y="3983831"/>
            <a:ext cx="513873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Sécurité Validée :</a:t>
            </a:r>
            <a:r>
              <a:rPr b="0" i="0" lang="en-US" sz="1275" u="none" cap="none" strike="noStrike">
                <a:solidFill>
                  <a:srgbClr val="334155"/>
                </a:solidFill>
                <a:latin typeface="Inter"/>
                <a:ea typeface="Inter"/>
                <a:cs typeface="Inter"/>
                <a:sym typeface="Inter"/>
              </a:rPr>
              <a:t> Isolation des données utilisateurs et protection CSRF/Sessions.</a:t>
            </a:r>
            <a:endParaRPr/>
          </a:p>
        </p:txBody>
      </p:sp>
      <p:sp>
        <p:nvSpPr>
          <p:cNvPr id="384" name="Google Shape;384;p26"/>
          <p:cNvSpPr txBox="1"/>
          <p:nvPr/>
        </p:nvSpPr>
        <p:spPr>
          <a:xfrm>
            <a:off x="790575" y="4583906"/>
            <a:ext cx="5138737" cy="242887"/>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URL de Production Active :</a:t>
            </a:r>
            <a:r>
              <a:rPr b="0" i="0" lang="en-US" sz="1275" u="none" cap="none" strike="noStrike">
                <a:solidFill>
                  <a:srgbClr val="334155"/>
                </a:solidFill>
                <a:latin typeface="Inter"/>
                <a:ea typeface="Inter"/>
                <a:cs typeface="Inter"/>
                <a:sym typeface="Inter"/>
              </a:rPr>
              <a:t> </a:t>
            </a:r>
            <a:r>
              <a:rPr b="0" i="0" lang="en-US" sz="1275" u="none" cap="none" strike="noStrike">
                <a:solidFill>
                  <a:srgbClr val="0284C7"/>
                </a:solidFill>
                <a:latin typeface="Inter"/>
                <a:ea typeface="Inter"/>
                <a:cs typeface="Inter"/>
                <a:sym typeface="Inter"/>
              </a:rPr>
              <a:t>todolistouzi.up.railway.app</a:t>
            </a:r>
            <a:endParaRPr/>
          </a:p>
        </p:txBody>
      </p:sp>
      <p:sp>
        <p:nvSpPr>
          <p:cNvPr id="385" name="Google Shape;385;p26"/>
          <p:cNvSpPr txBox="1"/>
          <p:nvPr/>
        </p:nvSpPr>
        <p:spPr>
          <a:xfrm>
            <a:off x="523875" y="2783681"/>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386" name="Google Shape;386;p26"/>
          <p:cNvSpPr txBox="1"/>
          <p:nvPr/>
        </p:nvSpPr>
        <p:spPr>
          <a:xfrm>
            <a:off x="523875" y="3383756"/>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387" name="Google Shape;387;p26"/>
          <p:cNvSpPr txBox="1"/>
          <p:nvPr/>
        </p:nvSpPr>
        <p:spPr>
          <a:xfrm>
            <a:off x="523875" y="3983831"/>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388" name="Google Shape;388;p26"/>
          <p:cNvSpPr txBox="1"/>
          <p:nvPr/>
        </p:nvSpPr>
        <p:spPr>
          <a:xfrm>
            <a:off x="523875" y="4583906"/>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389" name="Google Shape;389;p26"/>
          <p:cNvSpPr txBox="1"/>
          <p:nvPr/>
        </p:nvSpPr>
        <p:spPr>
          <a:xfrm>
            <a:off x="904875" y="428625"/>
            <a:ext cx="11287125"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550" u="none" cap="none" strike="noStrike">
                <a:solidFill>
                  <a:srgbClr val="0F172A"/>
                </a:solidFill>
                <a:latin typeface="Plus Jakarta Sans ExtraBold"/>
                <a:ea typeface="Plus Jakarta Sans ExtraBold"/>
                <a:cs typeface="Plus Jakarta Sans ExtraBold"/>
                <a:sym typeface="Plus Jakarta Sans ExtraBold"/>
              </a:rPr>
              <a:t>Résultats Obtenus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3" name="Shape 393"/>
        <p:cNvGrpSpPr/>
        <p:nvPr/>
      </p:nvGrpSpPr>
      <p:grpSpPr>
        <a:xfrm>
          <a:off x="0" y="0"/>
          <a:ext cx="0" cy="0"/>
          <a:chOff x="0" y="0"/>
          <a:chExt cx="0" cy="0"/>
        </a:xfrm>
      </p:grpSpPr>
      <p:pic>
        <p:nvPicPr>
          <p:cNvPr descr="image.png" id="394" name="Google Shape;394;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95" name="Google Shape;395;p27"/>
          <p:cNvPicPr preferRelativeResize="0"/>
          <p:nvPr/>
        </p:nvPicPr>
        <p:blipFill rotWithShape="1">
          <a:blip r:embed="rId4">
            <a:alphaModFix/>
          </a:blip>
          <a:srcRect b="0" l="0" r="0" t="0"/>
          <a:stretch/>
        </p:blipFill>
        <p:spPr>
          <a:xfrm>
            <a:off x="523875" y="2066925"/>
            <a:ext cx="5405437" cy="3371850"/>
          </a:xfrm>
          <a:prstGeom prst="rect">
            <a:avLst/>
          </a:prstGeom>
          <a:noFill/>
          <a:ln>
            <a:noFill/>
          </a:ln>
        </p:spPr>
      </p:pic>
      <p:pic>
        <p:nvPicPr>
          <p:cNvPr descr="image.png" id="396" name="Google Shape;396;p27"/>
          <p:cNvPicPr preferRelativeResize="0"/>
          <p:nvPr/>
        </p:nvPicPr>
        <p:blipFill rotWithShape="1">
          <a:blip r:embed="rId5">
            <a:alphaModFix/>
          </a:blip>
          <a:srcRect b="0" l="0" r="0" t="0"/>
          <a:stretch/>
        </p:blipFill>
        <p:spPr>
          <a:xfrm>
            <a:off x="6262687" y="2066925"/>
            <a:ext cx="5405437" cy="3371850"/>
          </a:xfrm>
          <a:prstGeom prst="rect">
            <a:avLst/>
          </a:prstGeom>
          <a:noFill/>
          <a:ln>
            <a:noFill/>
          </a:ln>
        </p:spPr>
      </p:pic>
      <p:pic>
        <p:nvPicPr>
          <p:cNvPr descr="image.png" id="397" name="Google Shape;397;p27"/>
          <p:cNvPicPr preferRelativeResize="0"/>
          <p:nvPr/>
        </p:nvPicPr>
        <p:blipFill rotWithShape="1">
          <a:blip r:embed="rId6">
            <a:alphaModFix/>
          </a:blip>
          <a:srcRect b="0" l="0" r="0" t="0"/>
          <a:stretch/>
        </p:blipFill>
        <p:spPr>
          <a:xfrm>
            <a:off x="0" y="6353175"/>
            <a:ext cx="12192000" cy="504825"/>
          </a:xfrm>
          <a:prstGeom prst="rect">
            <a:avLst/>
          </a:prstGeom>
          <a:noFill/>
          <a:ln>
            <a:noFill/>
          </a:ln>
        </p:spPr>
      </p:pic>
      <p:pic>
        <p:nvPicPr>
          <p:cNvPr descr="image.png" id="398" name="Google Shape;398;p27"/>
          <p:cNvPicPr preferRelativeResize="0"/>
          <p:nvPr/>
        </p:nvPicPr>
        <p:blipFill rotWithShape="1">
          <a:blip r:embed="rId7">
            <a:alphaModFix/>
          </a:blip>
          <a:srcRect b="0" l="0" r="0" t="0"/>
          <a:stretch/>
        </p:blipFill>
        <p:spPr>
          <a:xfrm>
            <a:off x="523875" y="500062"/>
            <a:ext cx="266700" cy="266700"/>
          </a:xfrm>
          <a:prstGeom prst="rect">
            <a:avLst/>
          </a:prstGeom>
          <a:noFill/>
          <a:ln>
            <a:noFill/>
          </a:ln>
        </p:spPr>
      </p:pic>
      <p:sp>
        <p:nvSpPr>
          <p:cNvPr id="399" name="Google Shape;399;p27"/>
          <p:cNvSpPr txBox="1"/>
          <p:nvPr/>
        </p:nvSpPr>
        <p:spPr>
          <a:xfrm>
            <a:off x="285750" y="6457950"/>
            <a:ext cx="9877425" cy="30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475569"/>
                </a:solidFill>
                <a:latin typeface="Inter"/>
                <a:ea typeface="Inter"/>
                <a:cs typeface="Inter"/>
                <a:sym typeface="Inter"/>
              </a:rPr>
              <a:t>En conclusion, ce projet m'a permis de valider l'ensemble de la chaîne de développement logicielle. Pour la version V2, nous envisageons d'ajouter un tableau Kanban, des notifications par email et une API REST pour une future application mobile. Merci pour votre attention !</a:t>
            </a:r>
            <a:endParaRPr/>
          </a:p>
        </p:txBody>
      </p:sp>
      <p:sp>
        <p:nvSpPr>
          <p:cNvPr id="400" name="Google Shape;400;p27"/>
          <p:cNvSpPr txBox="1"/>
          <p:nvPr/>
        </p:nvSpPr>
        <p:spPr>
          <a:xfrm>
            <a:off x="11572875" y="6538912"/>
            <a:ext cx="3333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Inter"/>
                <a:ea typeface="Inter"/>
                <a:cs typeface="Inter"/>
                <a:sym typeface="Inter"/>
              </a:rPr>
              <a:t>15 / 15</a:t>
            </a:r>
            <a:endParaRPr/>
          </a:p>
        </p:txBody>
      </p:sp>
      <p:sp>
        <p:nvSpPr>
          <p:cNvPr id="401" name="Google Shape;401;p27"/>
          <p:cNvSpPr txBox="1"/>
          <p:nvPr/>
        </p:nvSpPr>
        <p:spPr>
          <a:xfrm>
            <a:off x="819150" y="2362200"/>
            <a:ext cx="5055631" cy="266700"/>
          </a:xfrm>
          <a:prstGeom prst="rect">
            <a:avLst/>
          </a:prstGeom>
          <a:noFill/>
          <a:ln>
            <a:noFill/>
          </a:ln>
        </p:spPr>
        <p:txBody>
          <a:bodyPr anchorCtr="0" anchor="t" bIns="0" lIns="266700" spcFirstLastPara="1" rIns="0" wrap="square" tIns="0">
            <a:spAutoFit/>
          </a:bodyPr>
          <a:lstStyle/>
          <a:p>
            <a:pPr indent="0" lvl="0" marL="0" marR="0" rtl="0" algn="l">
              <a:spcBef>
                <a:spcPts val="0"/>
              </a:spcBef>
              <a:spcAft>
                <a:spcPts val="0"/>
              </a:spcAft>
              <a:buNone/>
            </a:pPr>
            <a:r>
              <a:rPr b="1" i="0" lang="en-US" sz="1650" u="none" cap="none" strike="noStrike">
                <a:solidFill>
                  <a:srgbClr val="0284C7"/>
                </a:solidFill>
                <a:latin typeface="Plus Jakarta Sans"/>
                <a:ea typeface="Plus Jakarta Sans"/>
                <a:cs typeface="Plus Jakarta Sans"/>
                <a:sym typeface="Plus Jakarta Sans"/>
              </a:rPr>
              <a:t>Conclusion Académique</a:t>
            </a:r>
            <a:endParaRPr/>
          </a:p>
        </p:txBody>
      </p:sp>
      <p:sp>
        <p:nvSpPr>
          <p:cNvPr id="402" name="Google Shape;402;p27"/>
          <p:cNvSpPr txBox="1"/>
          <p:nvPr/>
        </p:nvSpPr>
        <p:spPr>
          <a:xfrm>
            <a:off x="819150" y="2743200"/>
            <a:ext cx="4814887" cy="9715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0" lang="en-US" sz="1275" u="none" cap="none" strike="noStrike">
                <a:solidFill>
                  <a:srgbClr val="334155"/>
                </a:solidFill>
                <a:latin typeface="Inter"/>
                <a:ea typeface="Inter"/>
                <a:cs typeface="Inter"/>
                <a:sym typeface="Inter"/>
              </a:rPr>
              <a:t>Ce projet de L3 Génie Logiciel m'a permis de consolider la maîtrise du framework Django, la gestion d'une base de données relationnelle et les bonnes pratiques du déploiement Cloud en environnement réel.</a:t>
            </a:r>
            <a:endParaRPr/>
          </a:p>
        </p:txBody>
      </p:sp>
      <p:sp>
        <p:nvSpPr>
          <p:cNvPr id="403" name="Google Shape;403;p27"/>
          <p:cNvSpPr txBox="1"/>
          <p:nvPr/>
        </p:nvSpPr>
        <p:spPr>
          <a:xfrm>
            <a:off x="6557962" y="2362200"/>
            <a:ext cx="5055631" cy="266700"/>
          </a:xfrm>
          <a:prstGeom prst="rect">
            <a:avLst/>
          </a:prstGeom>
          <a:noFill/>
          <a:ln>
            <a:noFill/>
          </a:ln>
        </p:spPr>
        <p:txBody>
          <a:bodyPr anchorCtr="0" anchor="t" bIns="0" lIns="161925" spcFirstLastPara="1" rIns="0" wrap="square" tIns="0">
            <a:spAutoFit/>
          </a:bodyPr>
          <a:lstStyle/>
          <a:p>
            <a:pPr indent="0" lvl="0" marL="0" marR="0" rtl="0" algn="l">
              <a:spcBef>
                <a:spcPts val="0"/>
              </a:spcBef>
              <a:spcAft>
                <a:spcPts val="0"/>
              </a:spcAft>
              <a:buNone/>
            </a:pPr>
            <a:r>
              <a:rPr b="1" i="0" lang="en-US" sz="1650" u="none" cap="none" strike="noStrike">
                <a:solidFill>
                  <a:srgbClr val="0284C7"/>
                </a:solidFill>
                <a:latin typeface="Plus Jakarta Sans"/>
                <a:ea typeface="Plus Jakarta Sans"/>
                <a:cs typeface="Plus Jakarta Sans"/>
                <a:sym typeface="Plus Jakarta Sans"/>
              </a:rPr>
              <a:t>Perspectives pour la Version V2</a:t>
            </a:r>
            <a:endParaRPr/>
          </a:p>
        </p:txBody>
      </p:sp>
      <p:pic>
        <p:nvPicPr>
          <p:cNvPr descr="image.png" id="404" name="Google Shape;404;p27"/>
          <p:cNvPicPr preferRelativeResize="0"/>
          <p:nvPr/>
        </p:nvPicPr>
        <p:blipFill rotWithShape="1">
          <a:blip r:embed="rId8">
            <a:alphaModFix/>
          </a:blip>
          <a:srcRect b="0" l="0" r="0" t="0"/>
          <a:stretch/>
        </p:blipFill>
        <p:spPr>
          <a:xfrm>
            <a:off x="819150" y="2400300"/>
            <a:ext cx="266700" cy="209550"/>
          </a:xfrm>
          <a:prstGeom prst="rect">
            <a:avLst/>
          </a:prstGeom>
          <a:noFill/>
          <a:ln>
            <a:noFill/>
          </a:ln>
        </p:spPr>
      </p:pic>
      <p:pic>
        <p:nvPicPr>
          <p:cNvPr descr="image.png" id="405" name="Google Shape;405;p27"/>
          <p:cNvPicPr preferRelativeResize="0"/>
          <p:nvPr/>
        </p:nvPicPr>
        <p:blipFill rotWithShape="1">
          <a:blip r:embed="rId9">
            <a:alphaModFix/>
          </a:blip>
          <a:srcRect b="0" l="0" r="0" t="0"/>
          <a:stretch/>
        </p:blipFill>
        <p:spPr>
          <a:xfrm>
            <a:off x="6557962" y="2400300"/>
            <a:ext cx="161925" cy="209550"/>
          </a:xfrm>
          <a:prstGeom prst="rect">
            <a:avLst/>
          </a:prstGeom>
          <a:noFill/>
          <a:ln>
            <a:noFill/>
          </a:ln>
        </p:spPr>
      </p:pic>
      <p:sp>
        <p:nvSpPr>
          <p:cNvPr id="406" name="Google Shape;406;p27"/>
          <p:cNvSpPr txBox="1"/>
          <p:nvPr/>
        </p:nvSpPr>
        <p:spPr>
          <a:xfrm>
            <a:off x="6824662" y="2743200"/>
            <a:ext cx="454818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Vue Kanban &amp; Calendrier :</a:t>
            </a:r>
            <a:r>
              <a:rPr b="0" i="0" lang="en-US" sz="1275" u="none" cap="none" strike="noStrike">
                <a:solidFill>
                  <a:srgbClr val="334155"/>
                </a:solidFill>
                <a:latin typeface="Inter"/>
                <a:ea typeface="Inter"/>
                <a:cs typeface="Inter"/>
                <a:sym typeface="Inter"/>
              </a:rPr>
              <a:t> Organisation visuelle par glisser-déposer (Drag &amp; Drop).</a:t>
            </a:r>
            <a:endParaRPr/>
          </a:p>
        </p:txBody>
      </p:sp>
      <p:sp>
        <p:nvSpPr>
          <p:cNvPr id="407" name="Google Shape;407;p27"/>
          <p:cNvSpPr txBox="1"/>
          <p:nvPr/>
        </p:nvSpPr>
        <p:spPr>
          <a:xfrm>
            <a:off x="6824662" y="3343275"/>
            <a:ext cx="454818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Rôles &amp; Collaboration :</a:t>
            </a:r>
            <a:r>
              <a:rPr b="0" i="0" lang="en-US" sz="1275" u="none" cap="none" strike="noStrike">
                <a:solidFill>
                  <a:srgbClr val="334155"/>
                </a:solidFill>
                <a:latin typeface="Inter"/>
                <a:ea typeface="Inter"/>
                <a:cs typeface="Inter"/>
                <a:sym typeface="Inter"/>
              </a:rPr>
              <a:t> Partage de projets et gestion d'équipes pluridisciplinaires.</a:t>
            </a:r>
            <a:endParaRPr/>
          </a:p>
        </p:txBody>
      </p:sp>
      <p:sp>
        <p:nvSpPr>
          <p:cNvPr id="408" name="Google Shape;408;p27"/>
          <p:cNvSpPr txBox="1"/>
          <p:nvPr/>
        </p:nvSpPr>
        <p:spPr>
          <a:xfrm>
            <a:off x="6824662" y="3943350"/>
            <a:ext cx="454818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API REST (Django REST Framework) :</a:t>
            </a:r>
            <a:r>
              <a:rPr b="0" i="0" lang="en-US" sz="1275" u="none" cap="none" strike="noStrike">
                <a:solidFill>
                  <a:srgbClr val="334155"/>
                </a:solidFill>
                <a:latin typeface="Inter"/>
                <a:ea typeface="Inter"/>
                <a:cs typeface="Inter"/>
                <a:sym typeface="Inter"/>
              </a:rPr>
              <a:t> Ouverture vers une application mobile native.</a:t>
            </a:r>
            <a:endParaRPr/>
          </a:p>
        </p:txBody>
      </p:sp>
      <p:sp>
        <p:nvSpPr>
          <p:cNvPr id="409" name="Google Shape;409;p27"/>
          <p:cNvSpPr txBox="1"/>
          <p:nvPr/>
        </p:nvSpPr>
        <p:spPr>
          <a:xfrm>
            <a:off x="6824662" y="4543425"/>
            <a:ext cx="4548187" cy="485775"/>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334155"/>
                </a:solidFill>
                <a:latin typeface="Inter"/>
                <a:ea typeface="Inter"/>
                <a:cs typeface="Inter"/>
                <a:sym typeface="Inter"/>
              </a:rPr>
              <a:t>Notifications :</a:t>
            </a:r>
            <a:r>
              <a:rPr b="0" i="0" lang="en-US" sz="1275" u="none" cap="none" strike="noStrike">
                <a:solidFill>
                  <a:srgbClr val="334155"/>
                </a:solidFill>
                <a:latin typeface="Inter"/>
                <a:ea typeface="Inter"/>
                <a:cs typeface="Inter"/>
                <a:sym typeface="Inter"/>
              </a:rPr>
              <a:t> Rappels automatiques par e-mail avant échéance de tâche.</a:t>
            </a:r>
            <a:endParaRPr/>
          </a:p>
        </p:txBody>
      </p:sp>
      <p:sp>
        <p:nvSpPr>
          <p:cNvPr id="410" name="Google Shape;410;p27"/>
          <p:cNvSpPr txBox="1"/>
          <p:nvPr/>
        </p:nvSpPr>
        <p:spPr>
          <a:xfrm>
            <a:off x="6557962" y="2743200"/>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411" name="Google Shape;411;p27"/>
          <p:cNvSpPr txBox="1"/>
          <p:nvPr/>
        </p:nvSpPr>
        <p:spPr>
          <a:xfrm>
            <a:off x="6557962" y="3343275"/>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412" name="Google Shape;412;p27"/>
          <p:cNvSpPr txBox="1"/>
          <p:nvPr/>
        </p:nvSpPr>
        <p:spPr>
          <a:xfrm>
            <a:off x="6557962" y="3943350"/>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413" name="Google Shape;413;p27"/>
          <p:cNvSpPr txBox="1"/>
          <p:nvPr/>
        </p:nvSpPr>
        <p:spPr>
          <a:xfrm>
            <a:off x="6557962" y="4543425"/>
            <a:ext cx="161925" cy="24765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275" u="none" cap="none" strike="noStrike">
                <a:solidFill>
                  <a:srgbClr val="059669"/>
                </a:solidFill>
                <a:latin typeface="Inter"/>
                <a:ea typeface="Inter"/>
                <a:cs typeface="Inter"/>
                <a:sym typeface="Inter"/>
              </a:rPr>
              <a:t>✓</a:t>
            </a:r>
            <a:endParaRPr/>
          </a:p>
        </p:txBody>
      </p:sp>
      <p:sp>
        <p:nvSpPr>
          <p:cNvPr id="414" name="Google Shape;414;p27"/>
          <p:cNvSpPr txBox="1"/>
          <p:nvPr/>
        </p:nvSpPr>
        <p:spPr>
          <a:xfrm>
            <a:off x="904875" y="428625"/>
            <a:ext cx="11287125"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550" u="none" cap="none" strike="noStrike">
                <a:solidFill>
                  <a:srgbClr val="0F172A"/>
                </a:solidFill>
                <a:latin typeface="Plus Jakarta Sans ExtraBold"/>
                <a:ea typeface="Plus Jakarta Sans ExtraBold"/>
                <a:cs typeface="Plus Jakarta Sans ExtraBold"/>
                <a:sym typeface="Plus Jakarta Sans ExtraBold"/>
              </a:rPr>
              <a:t>Conclusion &amp; Perspectives V2</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